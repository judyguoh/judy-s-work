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embeddedFontLst>
    <p:embeddedFont>
      <p:font typeface="Helvetica Bold" panose="020B0704020202030204"/>
      <p:bold r:id="rId19"/>
    </p:embeddedFont>
    <p:embeddedFont>
      <p:font typeface="Helvetica" panose="020B0504020202020204"/>
      <p:regular r:id="rId20"/>
    </p:embeddedFont>
    <p:embeddedFont>
      <p:font typeface="Lato" panose="020F0502020204030203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C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6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5.png"/><Relationship Id="rId3" Type="http://schemas.openxmlformats.org/officeDocument/2006/relationships/tags" Target="../tags/tag2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9.png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image" Target="../media/image8.png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image" Target="../media/image7.png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image" Target="../media/image6.png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5.png"/><Relationship Id="rId3" Type="http://schemas.openxmlformats.org/officeDocument/2006/relationships/tags" Target="../tags/tag20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2.png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image" Target="../media/image11.png"/><Relationship Id="rId20" Type="http://schemas.openxmlformats.org/officeDocument/2006/relationships/tags" Target="../tags/tag34.xml"/><Relationship Id="rId2" Type="http://schemas.openxmlformats.org/officeDocument/2006/relationships/tags" Target="../tags/tag19.xml"/><Relationship Id="rId19" Type="http://schemas.openxmlformats.org/officeDocument/2006/relationships/tags" Target="../tags/tag33.xml"/><Relationship Id="rId18" Type="http://schemas.openxmlformats.org/officeDocument/2006/relationships/image" Target="../media/image10.png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image" Target="../media/image6.png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image" Target="../media/image5.png"/><Relationship Id="rId3" Type="http://schemas.openxmlformats.org/officeDocument/2006/relationships/tags" Target="../tags/tag38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24.png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image" Target="../media/image23.png"/><Relationship Id="rId20" Type="http://schemas.openxmlformats.org/officeDocument/2006/relationships/tags" Target="../tags/tag52.xml"/><Relationship Id="rId2" Type="http://schemas.openxmlformats.org/officeDocument/2006/relationships/tags" Target="../tags/tag37.xml"/><Relationship Id="rId19" Type="http://schemas.openxmlformats.org/officeDocument/2006/relationships/tags" Target="../tags/tag51.xml"/><Relationship Id="rId18" Type="http://schemas.openxmlformats.org/officeDocument/2006/relationships/image" Target="../media/image22.png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57250" y="3051429"/>
            <a:ext cx="17402175" cy="209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0"/>
              </a:lnSpc>
            </a:pPr>
            <a:r>
              <a:rPr lang="en-US" sz="7200" b="1">
                <a:solidFill>
                  <a:srgbClr val="F9FAFB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RayNeo AR Glasses</a:t>
            </a:r>
            <a:endParaRPr lang="en-US" sz="7200" b="1">
              <a:solidFill>
                <a:srgbClr val="F9FAFB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  <a:p>
            <a:pPr algn="l">
              <a:lnSpc>
                <a:spcPts val="7990"/>
              </a:lnSpc>
            </a:pPr>
            <a:r>
              <a:rPr lang="en-US" sz="7200" b="1">
                <a:solidFill>
                  <a:srgbClr val="F9FAFB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Digital Communication Strategy</a:t>
            </a:r>
            <a:endParaRPr lang="en-US" sz="7200" b="1">
              <a:solidFill>
                <a:srgbClr val="F9FAFB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7250" y="5550926"/>
            <a:ext cx="16573500" cy="173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3150">
                <a:solidFill>
                  <a:srgbClr val="A3E635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MAR410 Project F2025</a:t>
            </a:r>
            <a:endParaRPr lang="en-US" sz="3150">
              <a:solidFill>
                <a:srgbClr val="A3E635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  <a:p>
            <a:pPr algn="l">
              <a:lnSpc>
                <a:spcPts val="2675"/>
              </a:lnSpc>
            </a:pPr>
          </a:p>
          <a:p>
            <a:pPr algn="l">
              <a:lnSpc>
                <a:spcPts val="5670"/>
              </a:lnSpc>
            </a:pPr>
            <a:r>
              <a:rPr lang="en-US" sz="3150">
                <a:solidFill>
                  <a:srgbClr val="A3E635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G</a:t>
            </a:r>
            <a:r>
              <a:rPr lang="en-US" sz="3150">
                <a:solidFill>
                  <a:srgbClr val="A3E635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roup members: Grayson  Eric  Cecilia  Judy  Chavin  V  Rin  Jocelyn</a:t>
            </a:r>
            <a:endParaRPr lang="en-US" sz="3150">
              <a:solidFill>
                <a:srgbClr val="A3E635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0611679" y="1543050"/>
            <a:ext cx="6647621" cy="7092653"/>
            <a:chOff x="0" y="0"/>
            <a:chExt cx="812800" cy="8672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67214"/>
            </a:xfrm>
            <a:custGeom>
              <a:avLst/>
              <a:gdLst/>
              <a:ahLst/>
              <a:cxnLst/>
              <a:rect l="l" t="t" r="r" b="b"/>
              <a:pathLst>
                <a:path w="812800" h="867214">
                  <a:moveTo>
                    <a:pt x="0" y="0"/>
                  </a:moveTo>
                  <a:lnTo>
                    <a:pt x="812800" y="0"/>
                  </a:lnTo>
                  <a:lnTo>
                    <a:pt x="812800" y="867214"/>
                  </a:lnTo>
                  <a:lnTo>
                    <a:pt x="0" y="867214"/>
                  </a:lnTo>
                  <a:close/>
                </a:path>
              </a:pathLst>
            </a:custGeom>
            <a:blipFill>
              <a:blip r:embed="rId2"/>
              <a:stretch>
                <a:fillRect l="-3347" r="-3347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57250" y="2374105"/>
            <a:ext cx="832603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9FAFB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Brand: RayNeo</a:t>
            </a:r>
            <a:endParaRPr lang="en-US" sz="3500" b="1">
              <a:solidFill>
                <a:srgbClr val="F9FAFB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7250" y="3148965"/>
            <a:ext cx="8551545" cy="1384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CBD5E1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As an innovative brand under TCL, RayNeo has rapidly emerged as a leader in consumer AR since 2021, leveraging TCL's deep expertise in display technology and supply chain.</a:t>
            </a:r>
            <a:endParaRPr lang="en-US" sz="2400">
              <a:solidFill>
                <a:srgbClr val="CBD5E1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5122068"/>
            <a:ext cx="832603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9FAFB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Product: RayNeo X2</a:t>
            </a:r>
            <a:endParaRPr lang="en-US" sz="3500" b="1">
              <a:solidFill>
                <a:srgbClr val="F9FAFB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7250" y="5874385"/>
            <a:ext cx="8209915" cy="1384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CBD5E1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The flagship "True AR" glasses. It features a cutting-edge "diffraction light waveguide + MicroLED" solution and is powered by the Qualcomm Snapdragon XR2 chip.</a:t>
            </a:r>
            <a:endParaRPr lang="en-US" sz="2400">
              <a:solidFill>
                <a:srgbClr val="CBD5E1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57250" y="7417435"/>
            <a:ext cx="8210550" cy="1384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CBD5E1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It seamlessly integrates digital information with the physical world, covering diverse scenarios like translation, navigation, AI companionship, and remote work.</a:t>
            </a:r>
            <a:endParaRPr lang="en-US" sz="2400">
              <a:solidFill>
                <a:srgbClr val="CBD5E1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Brand &amp; Product Introduction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 rot="0">
            <a:off x="857250" y="3429000"/>
            <a:ext cx="5143500" cy="5043170"/>
            <a:chOff x="0" y="0"/>
            <a:chExt cx="6858000" cy="6477000"/>
          </a:xfrm>
        </p:grpSpPr>
        <p:sp>
          <p:nvSpPr>
            <p:cNvPr id="5" name="Freeform 5" descr="image.png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 rot="0">
            <a:off x="6572250" y="3429000"/>
            <a:ext cx="5143500" cy="5043170"/>
            <a:chOff x="0" y="0"/>
            <a:chExt cx="6858000" cy="6477000"/>
          </a:xfrm>
        </p:grpSpPr>
        <p:sp>
          <p:nvSpPr>
            <p:cNvPr id="7" name="Freeform 7" descr="image.png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0">
            <a:off x="12287250" y="3429000"/>
            <a:ext cx="5143500" cy="5043170"/>
            <a:chOff x="0" y="0"/>
            <a:chExt cx="6858000" cy="6477000"/>
          </a:xfrm>
        </p:grpSpPr>
        <p:sp>
          <p:nvSpPr>
            <p:cNvPr id="9" name="Freeform 9" descr="image.png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>
            <p:custDataLst>
              <p:tags r:id="rId10"/>
            </p:custDataLst>
          </p:nvPr>
        </p:nvSpPr>
        <p:spPr>
          <a:xfrm>
            <a:off x="1681281" y="4924425"/>
            <a:ext cx="349543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Vision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1" name="TextBox 11"/>
          <p:cNvSpPr txBox="1"/>
          <p:nvPr>
            <p:custDataLst>
              <p:tags r:id="rId11"/>
            </p:custDataLst>
          </p:nvPr>
        </p:nvSpPr>
        <p:spPr>
          <a:xfrm>
            <a:off x="1300162" y="5853112"/>
            <a:ext cx="4257675" cy="230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To become a 'bridge connecting the virtual and the real', making AR glasses a 'next-generation smart device' accessible to all.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2" name="TextBox 12"/>
          <p:cNvSpPr txBox="1"/>
          <p:nvPr>
            <p:custDataLst>
              <p:tags r:id="rId12"/>
            </p:custDataLst>
          </p:nvPr>
        </p:nvSpPr>
        <p:spPr>
          <a:xfrm>
            <a:off x="7238762" y="4914900"/>
            <a:ext cx="3810475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Mission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3" name="TextBox 13"/>
          <p:cNvSpPr txBox="1"/>
          <p:nvPr>
            <p:custDataLst>
              <p:tags r:id="rId13"/>
            </p:custDataLst>
          </p:nvPr>
        </p:nvSpPr>
        <p:spPr>
          <a:xfrm>
            <a:off x="7010717" y="5601017"/>
            <a:ext cx="4257675" cy="276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Seamless integration of digital information and the physical world to enhance work efficiency and life enjoyment through continuous tech innovation.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4" name="TextBox 14"/>
          <p:cNvSpPr txBox="1"/>
          <p:nvPr>
            <p:custDataLst>
              <p:tags r:id="rId14"/>
            </p:custDataLst>
          </p:nvPr>
        </p:nvSpPr>
        <p:spPr>
          <a:xfrm>
            <a:off x="12623719" y="4914900"/>
            <a:ext cx="447055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Objectives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5" name="TextBox 15"/>
          <p:cNvSpPr txBox="1"/>
          <p:nvPr>
            <p:custDataLst>
              <p:tags r:id="rId15"/>
            </p:custDataLst>
          </p:nvPr>
        </p:nvSpPr>
        <p:spPr>
          <a:xfrm>
            <a:off x="12720955" y="5905817"/>
            <a:ext cx="4257675" cy="230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Achieve tech leadership (12-18mo leaps), global market penetration (Top 3 in 3 yrs), and build a robust AR ecosystem.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grpSp>
        <p:nvGrpSpPr>
          <p:cNvPr id="16" name="Group 16"/>
          <p:cNvGrpSpPr>
            <a:grpSpLocks noChangeAspect="1"/>
          </p:cNvGrpSpPr>
          <p:nvPr>
            <p:custDataLst>
              <p:tags r:id="rId16"/>
            </p:custDataLst>
          </p:nvPr>
        </p:nvGrpSpPr>
        <p:grpSpPr>
          <a:xfrm rot="0">
            <a:off x="3043238" y="3900488"/>
            <a:ext cx="771525" cy="685800"/>
            <a:chOff x="0" y="0"/>
            <a:chExt cx="1028700" cy="914400"/>
          </a:xfrm>
        </p:grpSpPr>
        <p:sp>
          <p:nvSpPr>
            <p:cNvPr id="17" name="Freeform 17" descr="image.png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028700" cy="914400"/>
            </a:xfrm>
            <a:custGeom>
              <a:avLst/>
              <a:gdLst/>
              <a:ahLst/>
              <a:cxnLst/>
              <a:rect l="l" t="t" r="r" b="b"/>
              <a:pathLst>
                <a:path w="1028700" h="9144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1851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>
            <p:custDataLst>
              <p:tags r:id="rId19"/>
            </p:custDataLst>
          </p:nvPr>
        </p:nvGrpSpPr>
        <p:grpSpPr>
          <a:xfrm rot="0">
            <a:off x="8801100" y="3900488"/>
            <a:ext cx="685800" cy="685800"/>
            <a:chOff x="0" y="0"/>
            <a:chExt cx="914400" cy="914400"/>
          </a:xfrm>
        </p:grpSpPr>
        <p:sp>
          <p:nvSpPr>
            <p:cNvPr id="19" name="Freeform 19" descr="image.png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20" name="Group 20"/>
          <p:cNvGrpSpPr>
            <a:grpSpLocks noChangeAspect="1"/>
          </p:cNvGrpSpPr>
          <p:nvPr>
            <p:custDataLst>
              <p:tags r:id="rId22"/>
            </p:custDataLst>
          </p:nvPr>
        </p:nvGrpSpPr>
        <p:grpSpPr>
          <a:xfrm rot="0">
            <a:off x="14516100" y="3900488"/>
            <a:ext cx="685800" cy="685800"/>
            <a:chOff x="0" y="0"/>
            <a:chExt cx="914400" cy="914400"/>
          </a:xfrm>
        </p:grpSpPr>
        <p:sp>
          <p:nvSpPr>
            <p:cNvPr id="21" name="Freeform 21" descr="image.png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208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Vision, Mission &amp; Objectives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76200" y="3810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 rot="0">
            <a:off x="857250" y="3429000"/>
            <a:ext cx="5143500" cy="4857750"/>
            <a:chOff x="0" y="0"/>
            <a:chExt cx="6858000" cy="6477000"/>
          </a:xfrm>
        </p:grpSpPr>
        <p:sp>
          <p:nvSpPr>
            <p:cNvPr id="5" name="Freeform 5" descr="image.png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 rot="0">
            <a:off x="6572250" y="3429000"/>
            <a:ext cx="5143500" cy="4857750"/>
            <a:chOff x="0" y="0"/>
            <a:chExt cx="6858000" cy="6477000"/>
          </a:xfrm>
        </p:grpSpPr>
        <p:sp>
          <p:nvSpPr>
            <p:cNvPr id="7" name="Freeform 7" descr="image.png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0">
            <a:off x="12287250" y="3429000"/>
            <a:ext cx="5143500" cy="4857750"/>
            <a:chOff x="0" y="0"/>
            <a:chExt cx="6858000" cy="6477000"/>
          </a:xfrm>
        </p:grpSpPr>
        <p:sp>
          <p:nvSpPr>
            <p:cNvPr id="9" name="Freeform 9" descr="image.png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>
            <p:custDataLst>
              <p:tags r:id="rId10"/>
            </p:custDataLst>
          </p:nvPr>
        </p:nvSpPr>
        <p:spPr>
          <a:xfrm>
            <a:off x="1193720" y="4914900"/>
            <a:ext cx="447055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Segmentation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1" name="TextBox 11"/>
          <p:cNvSpPr txBox="1"/>
          <p:nvPr>
            <p:custDataLst>
              <p:tags r:id="rId11"/>
            </p:custDataLst>
          </p:nvPr>
        </p:nvSpPr>
        <p:spPr>
          <a:xfrm>
            <a:off x="1300162" y="5867400"/>
            <a:ext cx="4257675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Young Professionals, Students, Tech Enthusiasts, and Cross-border Travelers.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2" name="TextBox 12"/>
          <p:cNvSpPr txBox="1"/>
          <p:nvPr>
            <p:custDataLst>
              <p:tags r:id="rId12"/>
            </p:custDataLst>
          </p:nvPr>
        </p:nvSpPr>
        <p:spPr>
          <a:xfrm>
            <a:off x="6961227" y="4914900"/>
            <a:ext cx="436554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Targeting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3" name="TextBox 13"/>
          <p:cNvSpPr txBox="1"/>
          <p:nvPr>
            <p:custDataLst>
              <p:tags r:id="rId13"/>
            </p:custDataLst>
          </p:nvPr>
        </p:nvSpPr>
        <p:spPr>
          <a:xfrm>
            <a:off x="7015162" y="5867400"/>
            <a:ext cx="4257675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Core focus on Young Professionals &amp; Tech Enthusiasts. Radiate to students &amp; travelers.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4" name="TextBox 14"/>
          <p:cNvSpPr txBox="1"/>
          <p:nvPr>
            <p:custDataLst>
              <p:tags r:id="rId14"/>
            </p:custDataLst>
          </p:nvPr>
        </p:nvSpPr>
        <p:spPr>
          <a:xfrm>
            <a:off x="12623719" y="4914900"/>
            <a:ext cx="447055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Positioning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5" name="TextBox 15"/>
          <p:cNvSpPr txBox="1"/>
          <p:nvPr>
            <p:custDataLst>
              <p:tags r:id="rId15"/>
            </p:custDataLst>
          </p:nvPr>
        </p:nvSpPr>
        <p:spPr>
          <a:xfrm>
            <a:off x="12730161" y="5867400"/>
            <a:ext cx="4257675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"Lightweight, All-Scenario AI AR Companion." Positioned as an essential tool, not just a novelty toy.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grpSp>
        <p:nvGrpSpPr>
          <p:cNvPr id="16" name="Group 16"/>
          <p:cNvGrpSpPr>
            <a:grpSpLocks noChangeAspect="1"/>
          </p:cNvGrpSpPr>
          <p:nvPr>
            <p:custDataLst>
              <p:tags r:id="rId16"/>
            </p:custDataLst>
          </p:nvPr>
        </p:nvGrpSpPr>
        <p:grpSpPr>
          <a:xfrm rot="0">
            <a:off x="3000375" y="3900488"/>
            <a:ext cx="857250" cy="685800"/>
            <a:chOff x="0" y="0"/>
            <a:chExt cx="1143000" cy="914400"/>
          </a:xfrm>
        </p:grpSpPr>
        <p:sp>
          <p:nvSpPr>
            <p:cNvPr id="17" name="Freeform 17" descr="image.png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1666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>
            <p:custDataLst>
              <p:tags r:id="rId19"/>
            </p:custDataLst>
          </p:nvPr>
        </p:nvGrpSpPr>
        <p:grpSpPr>
          <a:xfrm rot="0">
            <a:off x="8801100" y="3900488"/>
            <a:ext cx="685800" cy="685800"/>
            <a:chOff x="0" y="0"/>
            <a:chExt cx="914400" cy="914400"/>
          </a:xfrm>
        </p:grpSpPr>
        <p:sp>
          <p:nvSpPr>
            <p:cNvPr id="19" name="Freeform 19" descr="image.png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20" name="Group 20"/>
          <p:cNvGrpSpPr>
            <a:grpSpLocks noChangeAspect="1"/>
          </p:cNvGrpSpPr>
          <p:nvPr>
            <p:custDataLst>
              <p:tags r:id="rId22"/>
            </p:custDataLst>
          </p:nvPr>
        </p:nvGrpSpPr>
        <p:grpSpPr>
          <a:xfrm rot="0">
            <a:off x="14644688" y="3900488"/>
            <a:ext cx="428625" cy="685800"/>
            <a:chOff x="0" y="0"/>
            <a:chExt cx="571500" cy="914400"/>
          </a:xfrm>
        </p:grpSpPr>
        <p:sp>
          <p:nvSpPr>
            <p:cNvPr id="21" name="Freeform 21" descr="image.png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571500" cy="914400"/>
            </a:xfrm>
            <a:custGeom>
              <a:avLst/>
              <a:gdLst/>
              <a:ahLst/>
              <a:cxnLst/>
              <a:rect l="l" t="t" r="r" b="b"/>
              <a:pathLst>
                <a:path w="571500" h="914400">
                  <a:moveTo>
                    <a:pt x="0" y="0"/>
                  </a:moveTo>
                  <a:lnTo>
                    <a:pt x="571500" y="0"/>
                  </a:lnTo>
                  <a:lnTo>
                    <a:pt x="5715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333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Market Strategy: STP Analysis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57250" y="819150"/>
            <a:ext cx="1017127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Value Proposition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0">
            <a:off x="11258550" y="0"/>
            <a:ext cx="7029450" cy="10287000"/>
            <a:chOff x="0" y="0"/>
            <a:chExt cx="9372600" cy="13716000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9372600" cy="13716000"/>
            </a:xfrm>
            <a:custGeom>
              <a:avLst/>
              <a:gdLst/>
              <a:ahLst/>
              <a:cxnLst/>
              <a:rect l="l" t="t" r="r" b="b"/>
              <a:pathLst>
                <a:path w="9372600" h="13716000">
                  <a:moveTo>
                    <a:pt x="0" y="0"/>
                  </a:moveTo>
                  <a:lnTo>
                    <a:pt x="9372600" y="0"/>
                  </a:lnTo>
                  <a:lnTo>
                    <a:pt x="93726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428750" y="2826067"/>
            <a:ext cx="9115425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Efficiency Boost 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Multi-screen work, real-time translation, and meeting minutes free your hands.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71600" y="4534217"/>
            <a:ext cx="9115425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00" b="1">
                <a:solidFill>
                  <a:srgbClr val="F9FAFB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Experience Innovation :</a:t>
            </a:r>
            <a:r>
              <a:rPr lang="en-US" sz="2400">
                <a:solidFill>
                  <a:srgbClr val="CBD5E1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1500nits peak brightness and lightweight design for a comfortable, clear display.</a:t>
            </a:r>
            <a:endParaRPr lang="en-US" sz="2400">
              <a:solidFill>
                <a:srgbClr val="CBD5E1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28750" y="6133783"/>
            <a:ext cx="9115425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Cost Optimization 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Flagship core configuration at an entry-level price, providing a "one-machine, multi-use" value.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71600" y="7842568"/>
            <a:ext cx="9115425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Social/Trend Value 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"Supercar" waistline design and detachable lenses make it a fashion statement.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 rot="0">
            <a:off x="838200" y="3162617"/>
            <a:ext cx="342900" cy="342900"/>
            <a:chOff x="0" y="0"/>
            <a:chExt cx="457200" cy="457200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 rot="0">
            <a:off x="857409" y="4839017"/>
            <a:ext cx="385762" cy="342900"/>
            <a:chOff x="0" y="0"/>
            <a:chExt cx="514350" cy="4572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514350" cy="457200"/>
            </a:xfrm>
            <a:custGeom>
              <a:avLst/>
              <a:gdLst/>
              <a:ahLst/>
              <a:cxnLst/>
              <a:rect l="l" t="t" r="r" b="b"/>
              <a:pathLst>
                <a:path w="514350" h="45720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 rot="0">
            <a:off x="858044" y="6515417"/>
            <a:ext cx="214312" cy="342900"/>
            <a:chOff x="0" y="0"/>
            <a:chExt cx="285750" cy="4572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285750" cy="457200"/>
            </a:xfrm>
            <a:custGeom>
              <a:avLst/>
              <a:gdLst/>
              <a:ahLst/>
              <a:cxnLst/>
              <a:rect l="l" t="t" r="r" b="b"/>
              <a:pathLst>
                <a:path w="285750" h="45720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 rot="0">
            <a:off x="838041" y="8191183"/>
            <a:ext cx="342900" cy="342900"/>
            <a:chOff x="0" y="0"/>
            <a:chExt cx="457200" cy="4572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 rot="0">
            <a:off x="857250" y="3514725"/>
            <a:ext cx="7929245" cy="5436870"/>
            <a:chOff x="0" y="0"/>
            <a:chExt cx="10572750" cy="62484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6248400"/>
            </a:xfrm>
            <a:custGeom>
              <a:avLst/>
              <a:gdLst/>
              <a:ahLst/>
              <a:cxnLst/>
              <a:rect l="l" t="t" r="r" b="b"/>
              <a:pathLst>
                <a:path w="10572750" h="6248400">
                  <a:moveTo>
                    <a:pt x="0" y="0"/>
                  </a:moveTo>
                  <a:lnTo>
                    <a:pt x="10572750" y="0"/>
                  </a:lnTo>
                  <a:lnTo>
                    <a:pt x="10572750" y="6248400"/>
                  </a:lnTo>
                  <a:lnTo>
                    <a:pt x="0" y="624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 rot="0">
            <a:off x="9501505" y="3514725"/>
            <a:ext cx="7929245" cy="5436235"/>
            <a:chOff x="0" y="0"/>
            <a:chExt cx="10572750" cy="62484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6248400"/>
            </a:xfrm>
            <a:custGeom>
              <a:avLst/>
              <a:gdLst/>
              <a:ahLst/>
              <a:cxnLst/>
              <a:rect l="l" t="t" r="r" b="b"/>
              <a:pathLst>
                <a:path w="10572750" h="6248400">
                  <a:moveTo>
                    <a:pt x="0" y="0"/>
                  </a:moveTo>
                  <a:lnTo>
                    <a:pt x="10572750" y="0"/>
                  </a:lnTo>
                  <a:lnTo>
                    <a:pt x="10572750" y="6248400"/>
                  </a:lnTo>
                  <a:lnTo>
                    <a:pt x="0" y="624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443038" y="4071937"/>
            <a:ext cx="70958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Strengths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43038" y="4791075"/>
            <a:ext cx="6757988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Core tech (MicroLED, XR2) is easy to demonstrate. Target audience is digitally native and active on social media.</a:t>
            </a:r>
            <a:endParaRPr lang="en-US" sz="2400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1768" y="6438900"/>
            <a:ext cx="70958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Weaknesses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7483" y="7200583"/>
            <a:ext cx="6757988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High cognitive barrier for AR concepts. Core experience (comfort, visuals) is difficult to convey online.</a:t>
            </a:r>
            <a:endParaRPr lang="en-US" sz="2400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86975" y="4071937"/>
            <a:ext cx="70958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Opportunities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86975" y="4791075"/>
            <a:ext cx="6757988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Tech platforms (TikTok, Bilibili) support new hardware. "Seeding economy" (KOL/KOC) is strong for tech products.</a:t>
            </a:r>
            <a:endParaRPr lang="en-US" sz="2400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86975" y="6438900"/>
            <a:ext cx="70958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Threats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058400" y="7199948"/>
            <a:ext cx="6757988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Homogenized competition in digital channels. Negative sentiment spreads fast. Rising vertical traffic costs.</a:t>
            </a:r>
            <a:endParaRPr lang="en-US" sz="2400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Digital Environment: SWOT Analysis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 rot="0">
            <a:off x="9501188" y="2321718"/>
            <a:ext cx="7929562" cy="4530030"/>
            <a:chOff x="0" y="0"/>
            <a:chExt cx="10572750" cy="604004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6039993"/>
            </a:xfrm>
            <a:custGeom>
              <a:avLst/>
              <a:gdLst/>
              <a:ahLst/>
              <a:cxnLst/>
              <a:rect l="l" t="t" r="r" b="b"/>
              <a:pathLst>
                <a:path w="10572750" h="6039993">
                  <a:moveTo>
                    <a:pt x="0" y="0"/>
                  </a:moveTo>
                  <a:lnTo>
                    <a:pt x="10572750" y="0"/>
                  </a:lnTo>
                  <a:lnTo>
                    <a:pt x="10572750" y="6039993"/>
                  </a:lnTo>
                  <a:lnTo>
                    <a:pt x="0" y="6039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9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57250" y="2293143"/>
            <a:ext cx="832603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1. Content Marketing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7250" y="3045618"/>
            <a:ext cx="792956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Layered Education: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"1-min AR" videos for novices; deep-dives for tech enthusiasts.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4074318"/>
            <a:ext cx="792956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Scenario Stories: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Vlogs (travel, work) showing 1st-person use of navigation, translation, etc.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7250" y="5379243"/>
            <a:ext cx="832603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2. Social Media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71562" y="6212681"/>
            <a:ext cx="142875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2025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09688" y="6088856"/>
            <a:ext cx="7477125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Douyin/TikTok: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Quick, impactful demos (e.g., "3-second translation").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1562" y="7198518"/>
            <a:ext cx="142875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2025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9688" y="7074693"/>
            <a:ext cx="7477125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Bilibili: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In-depth reviews &amp; tech analysis with major UP creators.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7117" y="8115458"/>
            <a:ext cx="142875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2025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09688" y="8039258"/>
            <a:ext cx="7477125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Red Notes: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"Fashion + Utility" focus with lifestyle and travel bloggers.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71562" y="9032081"/>
            <a:ext cx="142875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2025">
              <a:solidFill>
                <a:srgbClr val="CBD5E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09688" y="9003506"/>
            <a:ext cx="7477125" cy="46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Zhihu: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Expert Q&amp;A to build product authority.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 rot="0">
            <a:off x="9515475" y="2336006"/>
            <a:ext cx="7900988" cy="4444305"/>
            <a:chOff x="0" y="0"/>
            <a:chExt cx="10534650" cy="592574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10534650" cy="5925693"/>
            </a:xfrm>
            <a:custGeom>
              <a:avLst/>
              <a:gdLst/>
              <a:ahLst/>
              <a:cxnLst/>
              <a:rect l="l" t="t" r="r" b="b"/>
              <a:pathLst>
                <a:path w="10534650" h="5925693">
                  <a:moveTo>
                    <a:pt x="0" y="0"/>
                  </a:moveTo>
                  <a:lnTo>
                    <a:pt x="10534650" y="0"/>
                  </a:lnTo>
                  <a:lnTo>
                    <a:pt x="10534650" y="5925693"/>
                  </a:lnTo>
                  <a:lnTo>
                    <a:pt x="0" y="592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61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Digital Strategy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 rot="0">
            <a:off x="857250" y="3429000"/>
            <a:ext cx="5143500" cy="4857750"/>
            <a:chOff x="0" y="0"/>
            <a:chExt cx="6858000" cy="6477000"/>
          </a:xfrm>
        </p:grpSpPr>
        <p:sp>
          <p:nvSpPr>
            <p:cNvPr id="5" name="Freeform 5" descr="image.png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 rot="0">
            <a:off x="6572250" y="3429000"/>
            <a:ext cx="5143500" cy="4857750"/>
            <a:chOff x="0" y="0"/>
            <a:chExt cx="6858000" cy="6477000"/>
          </a:xfrm>
        </p:grpSpPr>
        <p:sp>
          <p:nvSpPr>
            <p:cNvPr id="7" name="Freeform 7" descr="image.png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0">
            <a:off x="12287250" y="3429000"/>
            <a:ext cx="5143500" cy="4857750"/>
            <a:chOff x="0" y="0"/>
            <a:chExt cx="6858000" cy="6477000"/>
          </a:xfrm>
        </p:grpSpPr>
        <p:sp>
          <p:nvSpPr>
            <p:cNvPr id="9" name="Freeform 9" descr="image.png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6858000" cy="6477000"/>
            </a:xfrm>
            <a:custGeom>
              <a:avLst/>
              <a:gdLst/>
              <a:ahLst/>
              <a:cxnLst/>
              <a:rect l="l" t="t" r="r" b="b"/>
              <a:pathLst>
                <a:path w="6858000" h="6477000">
                  <a:moveTo>
                    <a:pt x="0" y="0"/>
                  </a:moveTo>
                  <a:lnTo>
                    <a:pt x="6858000" y="0"/>
                  </a:lnTo>
                  <a:lnTo>
                    <a:pt x="68580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>
            <p:custDataLst>
              <p:tags r:id="rId10"/>
            </p:custDataLst>
          </p:nvPr>
        </p:nvSpPr>
        <p:spPr>
          <a:xfrm>
            <a:off x="1193720" y="4914900"/>
            <a:ext cx="447055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3. Paid Ads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1" name="TextBox 11"/>
          <p:cNvSpPr txBox="1"/>
          <p:nvPr>
            <p:custDataLst>
              <p:tags r:id="rId11"/>
            </p:custDataLst>
          </p:nvPr>
        </p:nvSpPr>
        <p:spPr>
          <a:xfrm>
            <a:off x="1300162" y="6086475"/>
            <a:ext cx="4257675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Target interest labels (tech, travel) on social. Bid on search ads for "best AR glasses" &amp; "mobile office tool".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2" name="TextBox 12"/>
          <p:cNvSpPr txBox="1"/>
          <p:nvPr>
            <p:custDataLst>
              <p:tags r:id="rId12"/>
            </p:custDataLst>
          </p:nvPr>
        </p:nvSpPr>
        <p:spPr>
          <a:xfrm>
            <a:off x="6908719" y="4914900"/>
            <a:ext cx="447055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4. Community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3" name="TextBox 13"/>
          <p:cNvSpPr txBox="1"/>
          <p:nvPr>
            <p:custDataLst>
              <p:tags r:id="rId13"/>
            </p:custDataLst>
          </p:nvPr>
        </p:nvSpPr>
        <p:spPr>
          <a:xfrm>
            <a:off x="7015161" y="6086475"/>
            <a:ext cx="4257675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Build private domain groups with tech experts. Offer exclusive coupons &amp; referral rewards to drive loyalty.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4" name="TextBox 14"/>
          <p:cNvSpPr txBox="1"/>
          <p:nvPr>
            <p:custDataLst>
              <p:tags r:id="rId14"/>
            </p:custDataLst>
          </p:nvPr>
        </p:nvSpPr>
        <p:spPr>
          <a:xfrm>
            <a:off x="12706230" y="4914900"/>
            <a:ext cx="430553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5. SEO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5" name="TextBox 15"/>
          <p:cNvSpPr txBox="1"/>
          <p:nvPr>
            <p:custDataLst>
              <p:tags r:id="rId15"/>
            </p:custDataLst>
          </p:nvPr>
        </p:nvSpPr>
        <p:spPr>
          <a:xfrm>
            <a:off x="12801917" y="6058217"/>
            <a:ext cx="4257675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Optimize for core keywords ("RayNeo AR") and long-tail Qs ("how to choose AR glasses") on web and e-commerce.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grpSp>
        <p:nvGrpSpPr>
          <p:cNvPr id="16" name="Group 16"/>
          <p:cNvGrpSpPr>
            <a:grpSpLocks noChangeAspect="1"/>
          </p:cNvGrpSpPr>
          <p:nvPr>
            <p:custDataLst>
              <p:tags r:id="rId16"/>
            </p:custDataLst>
          </p:nvPr>
        </p:nvGrpSpPr>
        <p:grpSpPr>
          <a:xfrm rot="0">
            <a:off x="3086100" y="3900488"/>
            <a:ext cx="685800" cy="685800"/>
            <a:chOff x="0" y="0"/>
            <a:chExt cx="914400" cy="914400"/>
          </a:xfrm>
        </p:grpSpPr>
        <p:sp>
          <p:nvSpPr>
            <p:cNvPr id="17" name="Freeform 17" descr="image.png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208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>
            <p:custDataLst>
              <p:tags r:id="rId19"/>
            </p:custDataLst>
          </p:nvPr>
        </p:nvGrpSpPr>
        <p:grpSpPr>
          <a:xfrm rot="0">
            <a:off x="8715375" y="3900488"/>
            <a:ext cx="857250" cy="685800"/>
            <a:chOff x="0" y="0"/>
            <a:chExt cx="1143000" cy="914400"/>
          </a:xfrm>
        </p:grpSpPr>
        <p:sp>
          <p:nvSpPr>
            <p:cNvPr id="19" name="Freeform 19" descr="image.png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20" name="Group 20"/>
          <p:cNvGrpSpPr>
            <a:grpSpLocks noChangeAspect="1"/>
          </p:cNvGrpSpPr>
          <p:nvPr>
            <p:custDataLst>
              <p:tags r:id="rId22"/>
            </p:custDataLst>
          </p:nvPr>
        </p:nvGrpSpPr>
        <p:grpSpPr>
          <a:xfrm rot="0">
            <a:off x="14516100" y="3900488"/>
            <a:ext cx="685800" cy="685800"/>
            <a:chOff x="0" y="0"/>
            <a:chExt cx="914400" cy="914400"/>
          </a:xfrm>
        </p:grpSpPr>
        <p:sp>
          <p:nvSpPr>
            <p:cNvPr id="21" name="Freeform 21" descr="image.png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208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Digital Strategy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14712" y="2940396"/>
            <a:ext cx="122872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Data Control:</a:t>
            </a:r>
            <a:r>
              <a:rPr lang="en-US" sz="30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Follow "Minimum Necessary" principle, with visual consent and dynamic, anonymized profiling.</a:t>
            </a:r>
            <a:endParaRPr lang="en-US" sz="30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414712" y="4426296"/>
            <a:ext cx="122872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Full-Lifecycle Security:</a:t>
            </a:r>
            <a:r>
              <a:rPr lang="en-US" sz="30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End-to-end encryption for data in transit and at rest. Hierarchical access control.</a:t>
            </a:r>
            <a:endParaRPr lang="en-US" sz="30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414712" y="5912196"/>
            <a:ext cx="122872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Technology-Powered Privacy:</a:t>
            </a:r>
            <a:r>
              <a:rPr lang="en-US" sz="30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Use Edge Computing for on-device processing (SLAM, face ID) to reduce data upload risk.</a:t>
            </a:r>
            <a:endParaRPr lang="en-US" sz="30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414712" y="7398096"/>
            <a:ext cx="122872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1">
                <a:solidFill>
                  <a:srgbClr val="FFFFFF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Legal &amp; Ethical:</a:t>
            </a:r>
            <a:r>
              <a:rPr lang="en-US" sz="30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 Strictly comply with PIPL &amp; Data Security Law. Conduct third-party audits and provide clear user rights channels.</a:t>
            </a:r>
            <a:endParaRPr lang="en-US" sz="30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2714625" y="3397596"/>
            <a:ext cx="342900" cy="342900"/>
            <a:chOff x="0" y="0"/>
            <a:chExt cx="457200" cy="4572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 rot="0">
            <a:off x="2736056" y="4900612"/>
            <a:ext cx="300038" cy="342900"/>
            <a:chOff x="0" y="0"/>
            <a:chExt cx="400050" cy="4572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 rot="0">
            <a:off x="2714625" y="6386512"/>
            <a:ext cx="342900" cy="342900"/>
            <a:chOff x="0" y="0"/>
            <a:chExt cx="457200" cy="4572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 rot="0">
            <a:off x="2714625" y="7872412"/>
            <a:ext cx="342900" cy="342900"/>
            <a:chOff x="0" y="0"/>
            <a:chExt cx="457200" cy="4572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Privacy &amp; Security Strategy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 rot="0">
            <a:off x="857250" y="3136105"/>
            <a:ext cx="7929562" cy="5443538"/>
            <a:chOff x="0" y="0"/>
            <a:chExt cx="10572750" cy="7258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7258050"/>
            </a:xfrm>
            <a:custGeom>
              <a:avLst/>
              <a:gdLst/>
              <a:ahLst/>
              <a:cxnLst/>
              <a:rect l="l" t="t" r="r" b="b"/>
              <a:pathLst>
                <a:path w="10572750" h="7258050">
                  <a:moveTo>
                    <a:pt x="0" y="0"/>
                  </a:moveTo>
                  <a:lnTo>
                    <a:pt x="10572750" y="0"/>
                  </a:lnTo>
                  <a:lnTo>
                    <a:pt x="10572750" y="7258050"/>
                  </a:lnTo>
                  <a:lnTo>
                    <a:pt x="0" y="725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62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 rot="0">
            <a:off x="9501188" y="3136105"/>
            <a:ext cx="7929562" cy="5443538"/>
            <a:chOff x="0" y="0"/>
            <a:chExt cx="10572750" cy="72580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7258050"/>
            </a:xfrm>
            <a:custGeom>
              <a:avLst/>
              <a:gdLst/>
              <a:ahLst/>
              <a:cxnLst/>
              <a:rect l="l" t="t" r="r" b="b"/>
              <a:pathLst>
                <a:path w="10572750" h="7258050">
                  <a:moveTo>
                    <a:pt x="0" y="0"/>
                  </a:moveTo>
                  <a:lnTo>
                    <a:pt x="10572750" y="0"/>
                  </a:lnTo>
                  <a:lnTo>
                    <a:pt x="10572750" y="7258050"/>
                  </a:lnTo>
                  <a:lnTo>
                    <a:pt x="0" y="725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6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443038" y="3693318"/>
            <a:ext cx="70958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1. Brand &amp; Reputation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43355" y="4412615"/>
            <a:ext cx="709549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KPIs: Site traffic, social follower growth, media mentions.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2403" y="5399245"/>
            <a:ext cx="709588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2. User Engagement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2720" y="6020435"/>
            <a:ext cx="7329805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KPIs: Interaction rate, video completion, community activity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43038" y="7048658"/>
            <a:ext cx="709588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3. Conversion &amp; Sales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42403" y="7657941"/>
            <a:ext cx="6757988" cy="46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KPIs: CTR, CVR, sales volume, CAC.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86975" y="3693318"/>
            <a:ext cx="709588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4. User Loyalty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34600" y="4412615"/>
            <a:ext cx="7171055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KPIs: Net Promoter Score (NPS), repeat purchase, UGC quantity</a:t>
            </a: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086975" y="5448140"/>
            <a:ext cx="709588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5. Product Iteration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134600" y="6065678"/>
            <a:ext cx="6757988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KPIs: Feature usage rate, fault feedback, update adoption.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086975" y="7048658"/>
            <a:ext cx="709588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6. </a:t>
            </a:r>
            <a:r>
              <a:rPr lang="en-US" sz="315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The Loop</a:t>
            </a:r>
            <a:endParaRPr lang="en-US" sz="315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086975" y="7550626"/>
            <a:ext cx="6757988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Use this data to: Evaluate -&gt; Optimize -&gt; Implement -&gt; Re-evaluate.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Data-Driven Closed-Loop Evaluation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76200" y="3810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 rot="0">
            <a:off x="857250" y="3493135"/>
            <a:ext cx="7929245" cy="5563870"/>
            <a:chOff x="0" y="0"/>
            <a:chExt cx="10572750" cy="6305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6305550"/>
            </a:xfrm>
            <a:custGeom>
              <a:avLst/>
              <a:gdLst/>
              <a:ahLst/>
              <a:cxnLst/>
              <a:rect l="l" t="t" r="r" b="b"/>
              <a:pathLst>
                <a:path w="10572750" h="6305550">
                  <a:moveTo>
                    <a:pt x="0" y="0"/>
                  </a:moveTo>
                  <a:lnTo>
                    <a:pt x="10572750" y="0"/>
                  </a:lnTo>
                  <a:lnTo>
                    <a:pt x="10572750" y="6305550"/>
                  </a:lnTo>
                  <a:lnTo>
                    <a:pt x="0" y="630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2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 rot="0">
            <a:off x="9501505" y="3493135"/>
            <a:ext cx="7929245" cy="5543550"/>
            <a:chOff x="0" y="0"/>
            <a:chExt cx="10572750" cy="63055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6305550"/>
            </a:xfrm>
            <a:custGeom>
              <a:avLst/>
              <a:gdLst/>
              <a:ahLst/>
              <a:cxnLst/>
              <a:rect l="l" t="t" r="r" b="b"/>
              <a:pathLst>
                <a:path w="10572750" h="6305550">
                  <a:moveTo>
                    <a:pt x="0" y="0"/>
                  </a:moveTo>
                  <a:lnTo>
                    <a:pt x="10572750" y="0"/>
                  </a:lnTo>
                  <a:lnTo>
                    <a:pt x="10572750" y="6305550"/>
                  </a:lnTo>
                  <a:lnTo>
                    <a:pt x="0" y="630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0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443038" y="4050505"/>
            <a:ext cx="70958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Strategy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47483" y="5214143"/>
            <a:ext cx="6757988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Anchor in tech leadership, targeting key personas (professionals, tech lovers) to build an "all-scenario companion" brand.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7483" y="7201058"/>
            <a:ext cx="6757988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Core message: Use differentiated "Tech + Scene" content to show, not just tell.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86975" y="4050505"/>
            <a:ext cx="70958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Execution</a:t>
            </a:r>
            <a:endParaRPr lang="en-US" sz="3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86975" y="4760118"/>
            <a:ext cx="6757988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Deploy layered content across diverse social platforms (Douyin, Bilibili, RedNote) to educate and inspire.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86975" y="6268878"/>
            <a:ext cx="6757988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Build trust via transparent, tech-powered privacy (Edge Computing) and active community management.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86975" y="7777212"/>
            <a:ext cx="6757988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FFFFF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Use a data-driven closed-loop to continuously optimize strategy and product.</a:t>
            </a:r>
            <a:endParaRPr lang="en-US" sz="2400">
              <a:solidFill>
                <a:srgbClr val="FFFFFF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57250" y="819150"/>
            <a:ext cx="1740217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A3E635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Summary</a:t>
            </a:r>
            <a:endParaRPr lang="en-US" sz="4500" b="1">
              <a:solidFill>
                <a:srgbClr val="A3E635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 rot="0">
            <a:off x="76200" y="38100"/>
            <a:ext cx="18288000" cy="10287000"/>
            <a:chOff x="0" y="0"/>
            <a:chExt cx="24384000" cy="13716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0920" y="2247900"/>
            <a:ext cx="16496030" cy="12090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sz="8800" b="1">
                <a:solidFill>
                  <a:srgbClr val="92CD33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THANK YOU FOR  LISTENING!</a:t>
            </a:r>
            <a:r>
              <a:rPr lang="en-US" sz="8800" b="1">
                <a:solidFill>
                  <a:srgbClr val="F9FAFB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       </a:t>
            </a:r>
            <a:endParaRPr lang="en-US" sz="8800" b="1">
              <a:solidFill>
                <a:srgbClr val="F9FAFB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33450" y="6972056"/>
            <a:ext cx="16573500" cy="173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3150">
                <a:solidFill>
                  <a:srgbClr val="A3E635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MAR410 Project F2025</a:t>
            </a:r>
            <a:endParaRPr lang="en-US" sz="3150">
              <a:solidFill>
                <a:srgbClr val="A3E635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  <a:p>
            <a:pPr algn="l">
              <a:lnSpc>
                <a:spcPts val="2675"/>
              </a:lnSpc>
            </a:pPr>
          </a:p>
          <a:p>
            <a:pPr algn="l">
              <a:lnSpc>
                <a:spcPts val="5670"/>
              </a:lnSpc>
            </a:pPr>
            <a:r>
              <a:rPr lang="en-US" sz="3150">
                <a:solidFill>
                  <a:srgbClr val="A3E635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G</a:t>
            </a:r>
            <a:r>
              <a:rPr lang="en-US" sz="3150">
                <a:solidFill>
                  <a:srgbClr val="A3E635"/>
                </a:solidFill>
                <a:latin typeface="Helvetica" panose="020B0504020202020204"/>
                <a:ea typeface="Helvetica" panose="020B0504020202020204"/>
                <a:cs typeface="Helvetica" panose="020B0504020202020204"/>
                <a:sym typeface="Helvetica" panose="020B0504020202020204"/>
              </a:rPr>
              <a:t>roup members: Grayson  Eric  Cecilia  Judy  Chavin  V  Rin  Jocelyn</a:t>
            </a:r>
            <a:endParaRPr lang="en-US" sz="3150">
              <a:solidFill>
                <a:srgbClr val="A3E635"/>
              </a:solidFill>
              <a:latin typeface="Helvetica" panose="020B0504020202020204"/>
              <a:ea typeface="Helvetica" panose="020B0504020202020204"/>
              <a:cs typeface="Helvetica" panose="020B0504020202020204"/>
              <a:sym typeface="Helvetica" panose="020B050402020202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90600" y="4533900"/>
            <a:ext cx="14825980" cy="2049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90"/>
              </a:lnSpc>
            </a:pPr>
            <a:r>
              <a:rPr lang="en-US" sz="4000" b="1">
                <a:solidFill>
                  <a:srgbClr val="F9FAFB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RayNeo AR Glasses</a:t>
            </a:r>
            <a:endParaRPr lang="en-US" sz="4000" b="1">
              <a:solidFill>
                <a:srgbClr val="F9FAFB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  <a:p>
            <a:pPr algn="l">
              <a:lnSpc>
                <a:spcPts val="7990"/>
              </a:lnSpc>
            </a:pPr>
            <a:r>
              <a:rPr lang="en-US" sz="4000" b="1">
                <a:solidFill>
                  <a:srgbClr val="F9FAFB"/>
                </a:solidFill>
                <a:latin typeface="Helvetica Bold" panose="020B0704020202030204"/>
                <a:ea typeface="Helvetica Bold" panose="020B0704020202030204"/>
                <a:cs typeface="Helvetica Bold" panose="020B0704020202030204"/>
                <a:sym typeface="Helvetica Bold" panose="020B0704020202030204"/>
              </a:rPr>
              <a:t>Digital Communication Strategy</a:t>
            </a:r>
            <a:endParaRPr lang="en-US" sz="4000" b="1">
              <a:solidFill>
                <a:srgbClr val="F9FAFB"/>
              </a:solidFill>
              <a:latin typeface="Helvetica Bold" panose="020B0704020202030204"/>
              <a:ea typeface="Helvetica Bold" panose="020B0704020202030204"/>
              <a:cs typeface="Helvetica Bold" panose="020B0704020202030204"/>
              <a:sym typeface="Helvetica Bold" panose="020B0704020202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2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3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4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5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6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7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8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9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0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1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2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3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4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5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6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7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8.xml><?xml version="1.0" encoding="utf-8"?>
<p:tagLst xmlns:p="http://schemas.openxmlformats.org/presentationml/2006/main">
  <p:tag name="KSO_WM_DIAGRAM_VIRTUALLY_FRAME" val="{&quot;height&quot;:408.9749606299212,&quot;left&quot;:67.5,&quot;top&quot;:270,&quot;width&quot;:1305}"/>
</p:tagLst>
</file>

<file path=ppt/tags/tag19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0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1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2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3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4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5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6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7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8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29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0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1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2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3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4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5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6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7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8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39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0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1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2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3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4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5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6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7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8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49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50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51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52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53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ags/tag54.xml><?xml version="1.0" encoding="utf-8"?>
<p:tagLst xmlns:p="http://schemas.openxmlformats.org/presentationml/2006/main">
  <p:tag name="KSO_WM_DIAGRAM_VIRTUALLY_FRAME" val="{&quot;height&quot;:382.5,&quot;left&quot;:67.5,&quot;top&quot;:270,&quot;width&quot;:130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4894</Words>
  <Application>WPS 演示</Application>
  <PresentationFormat>On-screen Show (4:3)</PresentationFormat>
  <Paragraphs>176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Helvetica Bold</vt:lpstr>
      <vt:lpstr>Helvetica</vt:lpstr>
      <vt:lpstr>Lato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RayNeo AR Glasses - Digital Communication Strategy.pptx</dc:title>
  <dc:creator/>
  <cp:lastModifiedBy>落</cp:lastModifiedBy>
  <cp:revision>12</cp:revision>
  <dcterms:created xsi:type="dcterms:W3CDTF">2006-08-16T00:00:00Z</dcterms:created>
  <dcterms:modified xsi:type="dcterms:W3CDTF">2025-11-17T08:17:39Z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5DF8A880A1474CF5AD40D3DD3E7F584E_13</vt:lpwstr>
  </property>
  <property fmtid="{D5CDD505-2E9C-101B-9397-08002B2CF9AE}" pid="3" name="KSOProductBuildVer">
    <vt:lpwstr>2052-12.1.0.23542</vt:lpwstr>
  </property>
</Properties>
</file>