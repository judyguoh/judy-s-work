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10.svg" ContentType="image/svg+xml"/>
  <Override PartName="/ppt/media/image13.svg" ContentType="image/svg+xml"/>
  <Override PartName="/ppt/media/image4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3" r:id="rId6"/>
    <p:sldId id="278" r:id="rId7"/>
    <p:sldId id="277" r:id="rId8"/>
    <p:sldId id="287" r:id="rId9"/>
    <p:sldId id="280" r:id="rId10"/>
    <p:sldId id="268" r:id="rId11"/>
    <p:sldId id="289" r:id="rId12"/>
    <p:sldId id="284" r:id="rId13"/>
    <p:sldId id="288" r:id="rId14"/>
    <p:sldId id="286" r:id="rId15"/>
    <p:sldId id="290" r:id="rId16"/>
    <p:sldId id="283" r:id="rId17"/>
  </p:sldIdLst>
  <p:sldSz cx="18288000" cy="10287000"/>
  <p:notesSz cx="6858000" cy="9144000"/>
  <p:embeddedFontLst>
    <p:embeddedFont>
      <p:font typeface="阿里巴巴普惠体 Heavy" panose="00020600040101010101" charset="-122"/>
      <p:bold r:id="rId21"/>
    </p:embeddedFont>
    <p:embeddedFont>
      <p:font typeface="阿里巴巴普惠体 Medium" panose="00020600040101010101" charset="-122"/>
      <p:regular r:id="rId22"/>
    </p:embeddedFont>
    <p:embeddedFont>
      <p:font typeface="阿里巴巴普惠体" panose="00020600040101010101" charset="-122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F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84"/>
        <p:guide pos="28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jpe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jpe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tags" Target="../tags/tag3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jpeg"/><Relationship Id="rId3" Type="http://schemas.openxmlformats.org/officeDocument/2006/relationships/image" Target="../media/image10.sv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jpeg"/><Relationship Id="rId3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4.png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jpeg"/><Relationship Id="rId3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4.png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16409">
            <a:off x="3586929" y="-4788363"/>
            <a:ext cx="11197962" cy="19537731"/>
          </a:xfrm>
          <a:custGeom>
            <a:avLst/>
            <a:gdLst/>
            <a:ahLst/>
            <a:cxnLst/>
            <a:rect l="l" t="t" r="r" b="b"/>
            <a:pathLst>
              <a:path w="11197962" h="19537731">
                <a:moveTo>
                  <a:pt x="0" y="0"/>
                </a:moveTo>
                <a:lnTo>
                  <a:pt x="11197962" y="0"/>
                </a:lnTo>
                <a:lnTo>
                  <a:pt x="11197962" y="19537731"/>
                </a:lnTo>
                <a:lnTo>
                  <a:pt x="0" y="195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1720" r="-11720"/>
            </a:stretch>
          </a:blipFill>
        </p:spPr>
      </p:sp>
      <p:grpSp>
        <p:nvGrpSpPr>
          <p:cNvPr id="21" name="Group 21"/>
          <p:cNvGrpSpPr/>
          <p:nvPr/>
        </p:nvGrpSpPr>
        <p:grpSpPr>
          <a:xfrm rot="0">
            <a:off x="-624923" y="9022154"/>
            <a:ext cx="19564067" cy="3097301"/>
            <a:chOff x="0" y="0"/>
            <a:chExt cx="5152676" cy="8157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152676" cy="815750"/>
            </a:xfrm>
            <a:custGeom>
              <a:avLst/>
              <a:gdLst/>
              <a:ahLst/>
              <a:cxnLst/>
              <a:rect l="l" t="t" r="r" b="b"/>
              <a:pathLst>
                <a:path w="5152676" h="815750">
                  <a:moveTo>
                    <a:pt x="20182" y="0"/>
                  </a:moveTo>
                  <a:lnTo>
                    <a:pt x="5132494" y="0"/>
                  </a:lnTo>
                  <a:cubicBezTo>
                    <a:pt x="5137847" y="0"/>
                    <a:pt x="5142980" y="2126"/>
                    <a:pt x="5146765" y="5911"/>
                  </a:cubicBezTo>
                  <a:cubicBezTo>
                    <a:pt x="5150550" y="9696"/>
                    <a:pt x="5152676" y="14829"/>
                    <a:pt x="5152676" y="20182"/>
                  </a:cubicBezTo>
                  <a:lnTo>
                    <a:pt x="5152676" y="795568"/>
                  </a:lnTo>
                  <a:cubicBezTo>
                    <a:pt x="5152676" y="800921"/>
                    <a:pt x="5150550" y="806054"/>
                    <a:pt x="5146765" y="809839"/>
                  </a:cubicBezTo>
                  <a:cubicBezTo>
                    <a:pt x="5142980" y="813624"/>
                    <a:pt x="5137847" y="815750"/>
                    <a:pt x="5132494" y="815750"/>
                  </a:cubicBezTo>
                  <a:lnTo>
                    <a:pt x="20182" y="815750"/>
                  </a:lnTo>
                  <a:cubicBezTo>
                    <a:pt x="14829" y="815750"/>
                    <a:pt x="9696" y="813624"/>
                    <a:pt x="5911" y="809839"/>
                  </a:cubicBezTo>
                  <a:cubicBezTo>
                    <a:pt x="2126" y="806054"/>
                    <a:pt x="0" y="800921"/>
                    <a:pt x="0" y="795568"/>
                  </a:cubicBezTo>
                  <a:lnTo>
                    <a:pt x="0" y="20182"/>
                  </a:lnTo>
                  <a:cubicBezTo>
                    <a:pt x="0" y="14829"/>
                    <a:pt x="2126" y="9696"/>
                    <a:pt x="5911" y="5911"/>
                  </a:cubicBezTo>
                  <a:cubicBezTo>
                    <a:pt x="9696" y="2126"/>
                    <a:pt x="14829" y="0"/>
                    <a:pt x="20182" y="0"/>
                  </a:cubicBezTo>
                  <a:close/>
                </a:path>
              </a:pathLst>
            </a:custGeom>
            <a:solidFill>
              <a:srgbClr val="3D3D3E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5152676" cy="853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</a:p>
          </p:txBody>
        </p:sp>
      </p:grpSp>
      <p:grpSp>
        <p:nvGrpSpPr>
          <p:cNvPr id="24" name="Group 24"/>
          <p:cNvGrpSpPr/>
          <p:nvPr/>
        </p:nvGrpSpPr>
        <p:grpSpPr>
          <a:xfrm rot="0">
            <a:off x="762000" y="7581900"/>
            <a:ext cx="9192895" cy="812165"/>
            <a:chOff x="0" y="0"/>
            <a:chExt cx="1444673" cy="1628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44673" cy="162890"/>
            </a:xfrm>
            <a:custGeom>
              <a:avLst/>
              <a:gdLst/>
              <a:ahLst/>
              <a:cxnLst/>
              <a:rect l="l" t="t" r="r" b="b"/>
              <a:pathLst>
                <a:path w="1444673" h="162890">
                  <a:moveTo>
                    <a:pt x="71982" y="0"/>
                  </a:moveTo>
                  <a:lnTo>
                    <a:pt x="1372691" y="0"/>
                  </a:lnTo>
                  <a:cubicBezTo>
                    <a:pt x="1412445" y="0"/>
                    <a:pt x="1444673" y="32227"/>
                    <a:pt x="1444673" y="71982"/>
                  </a:cubicBezTo>
                  <a:lnTo>
                    <a:pt x="1444673" y="90908"/>
                  </a:lnTo>
                  <a:cubicBezTo>
                    <a:pt x="1444673" y="109999"/>
                    <a:pt x="1437089" y="128308"/>
                    <a:pt x="1423590" y="141807"/>
                  </a:cubicBezTo>
                  <a:cubicBezTo>
                    <a:pt x="1410091" y="155306"/>
                    <a:pt x="1391782" y="162890"/>
                    <a:pt x="1372691" y="162890"/>
                  </a:cubicBezTo>
                  <a:lnTo>
                    <a:pt x="71982" y="162890"/>
                  </a:lnTo>
                  <a:cubicBezTo>
                    <a:pt x="32227" y="162890"/>
                    <a:pt x="0" y="130662"/>
                    <a:pt x="0" y="90908"/>
                  </a:cubicBezTo>
                  <a:lnTo>
                    <a:pt x="0" y="71982"/>
                  </a:lnTo>
                  <a:cubicBezTo>
                    <a:pt x="0" y="32227"/>
                    <a:pt x="32227" y="0"/>
                    <a:pt x="71982" y="0"/>
                  </a:cubicBezTo>
                  <a:close/>
                </a:path>
              </a:pathLst>
            </a:custGeom>
            <a:solidFill>
              <a:srgbClr val="72FFF7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444673" cy="200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92455" y="2988310"/>
            <a:ext cx="9937750" cy="4154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CN" sz="6000" b="1">
                <a:solidFill>
                  <a:srgbClr val="FFFFFF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AI Analysis of the value of the Try Makeup/ Shoe features in DEWU</a:t>
            </a:r>
            <a:endParaRPr lang="en-US" altLang="zh-CN" sz="6000" b="1">
              <a:solidFill>
                <a:srgbClr val="FFFFFF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38195" y="1553770"/>
            <a:ext cx="4258383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20"/>
              </a:lnSpc>
              <a:spcBef>
                <a:spcPct val="0"/>
              </a:spcBef>
            </a:pPr>
            <a:r>
              <a:rPr lang="en-US" sz="9600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DEWU</a:t>
            </a:r>
            <a:endParaRPr lang="en-US" sz="9600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138045" y="9371330"/>
            <a:ext cx="14120495" cy="581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 </a:t>
            </a:r>
            <a:r>
              <a:rPr lang="en-US" altLang="zh-CN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AI Analysis</a:t>
            </a:r>
            <a:r>
              <a:rPr lang="en-US" altLang="zh-CN" sz="3245" b="1">
                <a:solidFill>
                  <a:srgbClr val="FFFFFF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 </a:t>
            </a:r>
            <a:r>
              <a:rPr lang="en-US" altLang="zh-CN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of the value of the Try Makeup/ Shoe features in DEWU</a:t>
            </a:r>
            <a:endParaRPr lang="en-US" altLang="zh-CN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93622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6834816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143000" y="7788275"/>
            <a:ext cx="4563110" cy="381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75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Reporter：Cecilia</a:t>
            </a:r>
            <a:r>
              <a:rPr lang="zh-CN" altLang="en-US" sz="2800" b="1">
                <a:solidFill>
                  <a:srgbClr val="000000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、</a:t>
            </a:r>
            <a:r>
              <a:rPr lang="en-US" altLang="zh-CN" sz="2800" b="1">
                <a:solidFill>
                  <a:srgbClr val="000000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Judy</a:t>
            </a:r>
            <a:endParaRPr lang="en-US" altLang="zh-CN" sz="2800" b="1">
              <a:solidFill>
                <a:srgbClr val="000000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5943551" y="7788442"/>
            <a:ext cx="339489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Time：2025/11/04</a:t>
            </a:r>
            <a:endParaRPr lang="zh-CN" altLang="en-US" sz="2800" b="1">
              <a:solidFill>
                <a:srgbClr val="000000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</p:txBody>
      </p:sp>
      <p:pic>
        <p:nvPicPr>
          <p:cNvPr id="37" name="图片 36" descr="微信图片_20250921233954_991_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1584960"/>
            <a:ext cx="6404610" cy="63163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16409">
            <a:off x="3545019" y="-4788363"/>
            <a:ext cx="11197962" cy="19537731"/>
          </a:xfrm>
          <a:custGeom>
            <a:avLst/>
            <a:gdLst/>
            <a:ahLst/>
            <a:cxnLst/>
            <a:rect l="l" t="t" r="r" b="b"/>
            <a:pathLst>
              <a:path w="11197962" h="19537731">
                <a:moveTo>
                  <a:pt x="0" y="0"/>
                </a:moveTo>
                <a:lnTo>
                  <a:pt x="11197962" y="0"/>
                </a:lnTo>
                <a:lnTo>
                  <a:pt x="11197962" y="19537731"/>
                </a:lnTo>
                <a:lnTo>
                  <a:pt x="0" y="195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1720" r="-1172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836923" y="7027589"/>
            <a:ext cx="4234372" cy="3541475"/>
          </a:xfrm>
          <a:custGeom>
            <a:avLst/>
            <a:gdLst/>
            <a:ahLst/>
            <a:cxnLst/>
            <a:rect l="l" t="t" r="r" b="b"/>
            <a:pathLst>
              <a:path w="4234372" h="3541475">
                <a:moveTo>
                  <a:pt x="0" y="0"/>
                </a:moveTo>
                <a:lnTo>
                  <a:pt x="4234372" y="0"/>
                </a:lnTo>
                <a:lnTo>
                  <a:pt x="4234372" y="3541475"/>
                </a:lnTo>
                <a:lnTo>
                  <a:pt x="0" y="354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 rot="0">
            <a:off x="-651593" y="9063429"/>
            <a:ext cx="19564067" cy="3097301"/>
            <a:chOff x="0" y="0"/>
            <a:chExt cx="5152676" cy="8157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52676" cy="815750"/>
            </a:xfrm>
            <a:custGeom>
              <a:avLst/>
              <a:gdLst/>
              <a:ahLst/>
              <a:cxnLst/>
              <a:rect l="l" t="t" r="r" b="b"/>
              <a:pathLst>
                <a:path w="5152676" h="815750">
                  <a:moveTo>
                    <a:pt x="20182" y="0"/>
                  </a:moveTo>
                  <a:lnTo>
                    <a:pt x="5132494" y="0"/>
                  </a:lnTo>
                  <a:cubicBezTo>
                    <a:pt x="5137847" y="0"/>
                    <a:pt x="5142980" y="2126"/>
                    <a:pt x="5146765" y="5911"/>
                  </a:cubicBezTo>
                  <a:cubicBezTo>
                    <a:pt x="5150550" y="9696"/>
                    <a:pt x="5152676" y="14829"/>
                    <a:pt x="5152676" y="20182"/>
                  </a:cubicBezTo>
                  <a:lnTo>
                    <a:pt x="5152676" y="795568"/>
                  </a:lnTo>
                  <a:cubicBezTo>
                    <a:pt x="5152676" y="800921"/>
                    <a:pt x="5150550" y="806054"/>
                    <a:pt x="5146765" y="809839"/>
                  </a:cubicBezTo>
                  <a:cubicBezTo>
                    <a:pt x="5142980" y="813624"/>
                    <a:pt x="5137847" y="815750"/>
                    <a:pt x="5132494" y="815750"/>
                  </a:cubicBezTo>
                  <a:lnTo>
                    <a:pt x="20182" y="815750"/>
                  </a:lnTo>
                  <a:cubicBezTo>
                    <a:pt x="14829" y="815750"/>
                    <a:pt x="9696" y="813624"/>
                    <a:pt x="5911" y="809839"/>
                  </a:cubicBezTo>
                  <a:cubicBezTo>
                    <a:pt x="2126" y="806054"/>
                    <a:pt x="0" y="800921"/>
                    <a:pt x="0" y="795568"/>
                  </a:cubicBezTo>
                  <a:lnTo>
                    <a:pt x="0" y="20182"/>
                  </a:lnTo>
                  <a:cubicBezTo>
                    <a:pt x="0" y="14829"/>
                    <a:pt x="2126" y="9696"/>
                    <a:pt x="5911" y="5911"/>
                  </a:cubicBezTo>
                  <a:cubicBezTo>
                    <a:pt x="9696" y="2126"/>
                    <a:pt x="14829" y="0"/>
                    <a:pt x="20182" y="0"/>
                  </a:cubicBezTo>
                  <a:close/>
                </a:path>
              </a:pathLst>
            </a:custGeom>
            <a:solidFill>
              <a:srgbClr val="3D3D3E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152676" cy="853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220200" y="4686300"/>
            <a:ext cx="8277860" cy="1523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altLang="zh-CN" sz="6600" b="1">
                <a:solidFill>
                  <a:schemeClr val="bg1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Market Background</a:t>
            </a:r>
            <a:endParaRPr lang="en-US" altLang="zh-CN" sz="6600" b="1">
              <a:solidFill>
                <a:schemeClr val="bg1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93622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6834816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grpSp>
        <p:nvGrpSpPr>
          <p:cNvPr id="28" name="Group 28"/>
          <p:cNvGrpSpPr/>
          <p:nvPr/>
        </p:nvGrpSpPr>
        <p:grpSpPr>
          <a:xfrm rot="0">
            <a:off x="13469042" y="939635"/>
            <a:ext cx="1822420" cy="1822420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3D3E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6" name="Group 21"/>
          <p:cNvGrpSpPr/>
          <p:nvPr/>
        </p:nvGrpSpPr>
        <p:grpSpPr>
          <a:xfrm rot="0">
            <a:off x="12044680" y="1637030"/>
            <a:ext cx="2382520" cy="2382520"/>
            <a:chOff x="0" y="0"/>
            <a:chExt cx="812800" cy="812800"/>
          </a:xfrm>
        </p:grpSpPr>
        <p:sp>
          <p:nvSpPr>
            <p:cNvPr id="37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437745" y="2095500"/>
            <a:ext cx="1642110" cy="16281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11985"/>
              </a:lnSpc>
              <a:spcBef>
                <a:spcPct val="0"/>
              </a:spcBef>
            </a:pPr>
            <a:r>
              <a:rPr lang="en-US" sz="9600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01</a:t>
            </a:r>
            <a:endParaRPr lang="en-US" sz="9600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143000" y="1409700"/>
            <a:ext cx="7118985" cy="6657340"/>
          </a:xfrm>
          <a:prstGeom prst="rect">
            <a:avLst/>
          </a:prstGeom>
          <a:solidFill>
            <a:srgbClr val="72FFF7"/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 descr="微信图片_20250921233953_990_7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925" y="1969770"/>
            <a:ext cx="6032500" cy="5537835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2138045" y="9371330"/>
            <a:ext cx="14120495" cy="581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 </a:t>
            </a:r>
            <a:r>
              <a:rPr lang="en-US" altLang="zh-CN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AI Analysis of the value of the Try Makeup/ Shoe features in DEWU</a:t>
            </a:r>
            <a:endParaRPr lang="en-US" altLang="zh-CN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16409">
            <a:off x="3545019" y="-4788363"/>
            <a:ext cx="11197962" cy="19537731"/>
          </a:xfrm>
          <a:custGeom>
            <a:avLst/>
            <a:gdLst/>
            <a:ahLst/>
            <a:cxnLst/>
            <a:rect l="l" t="t" r="r" b="b"/>
            <a:pathLst>
              <a:path w="11197962" h="19537731">
                <a:moveTo>
                  <a:pt x="0" y="0"/>
                </a:moveTo>
                <a:lnTo>
                  <a:pt x="11197962" y="0"/>
                </a:lnTo>
                <a:lnTo>
                  <a:pt x="11197962" y="19537731"/>
                </a:lnTo>
                <a:lnTo>
                  <a:pt x="0" y="195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1720" r="-11720"/>
            </a:stretch>
          </a:blipFill>
        </p:spPr>
      </p:sp>
      <p:grpSp>
        <p:nvGrpSpPr>
          <p:cNvPr id="21" name="Group 21"/>
          <p:cNvGrpSpPr/>
          <p:nvPr/>
        </p:nvGrpSpPr>
        <p:grpSpPr>
          <a:xfrm rot="0">
            <a:off x="-685883" y="9022154"/>
            <a:ext cx="19564067" cy="3097301"/>
            <a:chOff x="0" y="0"/>
            <a:chExt cx="5152676" cy="8157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152676" cy="815750"/>
            </a:xfrm>
            <a:custGeom>
              <a:avLst/>
              <a:gdLst/>
              <a:ahLst/>
              <a:cxnLst/>
              <a:rect l="l" t="t" r="r" b="b"/>
              <a:pathLst>
                <a:path w="5152676" h="815750">
                  <a:moveTo>
                    <a:pt x="20182" y="0"/>
                  </a:moveTo>
                  <a:lnTo>
                    <a:pt x="5132494" y="0"/>
                  </a:lnTo>
                  <a:cubicBezTo>
                    <a:pt x="5137847" y="0"/>
                    <a:pt x="5142980" y="2126"/>
                    <a:pt x="5146765" y="5911"/>
                  </a:cubicBezTo>
                  <a:cubicBezTo>
                    <a:pt x="5150550" y="9696"/>
                    <a:pt x="5152676" y="14829"/>
                    <a:pt x="5152676" y="20182"/>
                  </a:cubicBezTo>
                  <a:lnTo>
                    <a:pt x="5152676" y="795568"/>
                  </a:lnTo>
                  <a:cubicBezTo>
                    <a:pt x="5152676" y="800921"/>
                    <a:pt x="5150550" y="806054"/>
                    <a:pt x="5146765" y="809839"/>
                  </a:cubicBezTo>
                  <a:cubicBezTo>
                    <a:pt x="5142980" y="813624"/>
                    <a:pt x="5137847" y="815750"/>
                    <a:pt x="5132494" y="815750"/>
                  </a:cubicBezTo>
                  <a:lnTo>
                    <a:pt x="20182" y="815750"/>
                  </a:lnTo>
                  <a:cubicBezTo>
                    <a:pt x="14829" y="815750"/>
                    <a:pt x="9696" y="813624"/>
                    <a:pt x="5911" y="809839"/>
                  </a:cubicBezTo>
                  <a:cubicBezTo>
                    <a:pt x="2126" y="806054"/>
                    <a:pt x="0" y="800921"/>
                    <a:pt x="0" y="795568"/>
                  </a:cubicBezTo>
                  <a:lnTo>
                    <a:pt x="0" y="20182"/>
                  </a:lnTo>
                  <a:cubicBezTo>
                    <a:pt x="0" y="14829"/>
                    <a:pt x="2126" y="9696"/>
                    <a:pt x="5911" y="5911"/>
                  </a:cubicBezTo>
                  <a:cubicBezTo>
                    <a:pt x="9696" y="2126"/>
                    <a:pt x="14829" y="0"/>
                    <a:pt x="20182" y="0"/>
                  </a:cubicBezTo>
                  <a:close/>
                </a:path>
              </a:pathLst>
            </a:custGeom>
            <a:solidFill>
              <a:srgbClr val="3D3D3E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5152676" cy="853850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835"/>
                </a:lnSpc>
              </a:pP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793622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6834816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600200" y="1165225"/>
            <a:ext cx="15326360" cy="576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altLang="zh-CN" sz="5400" b="1">
                <a:solidFill>
                  <a:srgbClr val="72FFF7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The Core Pain Point of Online Consumption</a:t>
            </a:r>
            <a:endParaRPr lang="en-US" altLang="zh-CN" sz="5400" b="1">
              <a:solidFill>
                <a:srgbClr val="72FFF7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</p:txBody>
      </p:sp>
      <p:sp>
        <p:nvSpPr>
          <p:cNvPr id="65" name="TextBox 54"/>
          <p:cNvSpPr txBox="1"/>
          <p:nvPr/>
        </p:nvSpPr>
        <p:spPr>
          <a:xfrm>
            <a:off x="1160145" y="2433320"/>
            <a:ext cx="15436850" cy="584517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400" b="1">
                <a:solidFill>
                  <a:srgbClr val="72FFF7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User pain points: </a:t>
            </a:r>
            <a:endParaRPr lang="en-US" altLang="zh-CN" sz="4400" b="1">
              <a:solidFill>
                <a:srgbClr val="72FFF7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>
                <a:solidFill>
                  <a:srgbClr val="FFFFFF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· Lack of fitting experience </a:t>
            </a:r>
            <a:endParaRPr lang="en-US" altLang="zh-CN" sz="3600" b="1">
              <a:solidFill>
                <a:srgbClr val="FFFFFF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>
                <a:solidFill>
                  <a:srgbClr val="FFFFFF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· Unclear makeup effect </a:t>
            </a:r>
            <a:endParaRPr lang="en-US" altLang="zh-CN" sz="3600" b="1">
              <a:solidFill>
                <a:srgbClr val="FFFFFF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>
                <a:solidFill>
                  <a:srgbClr val="FFFFFF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· High return risk and decision-making cost</a:t>
            </a:r>
            <a:endParaRPr lang="en-US" altLang="zh-CN" sz="3600" b="1">
              <a:solidFill>
                <a:srgbClr val="FFFFFF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3600" b="1">
              <a:solidFill>
                <a:srgbClr val="FFFFFF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400" b="1">
                <a:solidFill>
                  <a:srgbClr val="72FFF7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Industry impact: </a:t>
            </a:r>
            <a:endParaRPr lang="en-US" altLang="zh-CN" sz="4400" b="1">
              <a:solidFill>
                <a:srgbClr val="72FFF7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>
                <a:solidFill>
                  <a:srgbClr val="FFFFFF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Low conversion rate, difficult to increase the unit price of customers, high return rate, seriously restrict the online consumption experience.</a:t>
            </a:r>
            <a:endParaRPr lang="en-US" altLang="zh-CN" sz="3600" b="1">
              <a:solidFill>
                <a:srgbClr val="FFFFFF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138045" y="9371330"/>
            <a:ext cx="14120495" cy="581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 </a:t>
            </a:r>
            <a:r>
              <a:rPr lang="en-US" altLang="zh-CN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AI Analysis of the value of the Try Makeup/ Shoe features in DEWU</a:t>
            </a:r>
            <a:endParaRPr lang="en-US" altLang="zh-CN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16409">
            <a:off x="3545019" y="-4788363"/>
            <a:ext cx="11197962" cy="19537731"/>
          </a:xfrm>
          <a:custGeom>
            <a:avLst/>
            <a:gdLst/>
            <a:ahLst/>
            <a:cxnLst/>
            <a:rect l="l" t="t" r="r" b="b"/>
            <a:pathLst>
              <a:path w="11197962" h="19537731">
                <a:moveTo>
                  <a:pt x="0" y="0"/>
                </a:moveTo>
                <a:lnTo>
                  <a:pt x="11197962" y="0"/>
                </a:lnTo>
                <a:lnTo>
                  <a:pt x="11197962" y="19537731"/>
                </a:lnTo>
                <a:lnTo>
                  <a:pt x="0" y="195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1720" r="-1172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836923" y="7027589"/>
            <a:ext cx="4234372" cy="3541475"/>
          </a:xfrm>
          <a:custGeom>
            <a:avLst/>
            <a:gdLst/>
            <a:ahLst/>
            <a:cxnLst/>
            <a:rect l="l" t="t" r="r" b="b"/>
            <a:pathLst>
              <a:path w="4234372" h="3541475">
                <a:moveTo>
                  <a:pt x="0" y="0"/>
                </a:moveTo>
                <a:lnTo>
                  <a:pt x="4234372" y="0"/>
                </a:lnTo>
                <a:lnTo>
                  <a:pt x="4234372" y="3541475"/>
                </a:lnTo>
                <a:lnTo>
                  <a:pt x="0" y="354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 rot="0">
            <a:off x="-651593" y="9063429"/>
            <a:ext cx="19564067" cy="3097301"/>
            <a:chOff x="0" y="0"/>
            <a:chExt cx="5152676" cy="8157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52676" cy="815750"/>
            </a:xfrm>
            <a:custGeom>
              <a:avLst/>
              <a:gdLst/>
              <a:ahLst/>
              <a:cxnLst/>
              <a:rect l="l" t="t" r="r" b="b"/>
              <a:pathLst>
                <a:path w="5152676" h="815750">
                  <a:moveTo>
                    <a:pt x="20182" y="0"/>
                  </a:moveTo>
                  <a:lnTo>
                    <a:pt x="5132494" y="0"/>
                  </a:lnTo>
                  <a:cubicBezTo>
                    <a:pt x="5137847" y="0"/>
                    <a:pt x="5142980" y="2126"/>
                    <a:pt x="5146765" y="5911"/>
                  </a:cubicBezTo>
                  <a:cubicBezTo>
                    <a:pt x="5150550" y="9696"/>
                    <a:pt x="5152676" y="14829"/>
                    <a:pt x="5152676" y="20182"/>
                  </a:cubicBezTo>
                  <a:lnTo>
                    <a:pt x="5152676" y="795568"/>
                  </a:lnTo>
                  <a:cubicBezTo>
                    <a:pt x="5152676" y="800921"/>
                    <a:pt x="5150550" y="806054"/>
                    <a:pt x="5146765" y="809839"/>
                  </a:cubicBezTo>
                  <a:cubicBezTo>
                    <a:pt x="5142980" y="813624"/>
                    <a:pt x="5137847" y="815750"/>
                    <a:pt x="5132494" y="815750"/>
                  </a:cubicBezTo>
                  <a:lnTo>
                    <a:pt x="20182" y="815750"/>
                  </a:lnTo>
                  <a:cubicBezTo>
                    <a:pt x="14829" y="815750"/>
                    <a:pt x="9696" y="813624"/>
                    <a:pt x="5911" y="809839"/>
                  </a:cubicBezTo>
                  <a:cubicBezTo>
                    <a:pt x="2126" y="806054"/>
                    <a:pt x="0" y="800921"/>
                    <a:pt x="0" y="795568"/>
                  </a:cubicBezTo>
                  <a:lnTo>
                    <a:pt x="0" y="20182"/>
                  </a:lnTo>
                  <a:cubicBezTo>
                    <a:pt x="0" y="14829"/>
                    <a:pt x="2126" y="9696"/>
                    <a:pt x="5911" y="5911"/>
                  </a:cubicBezTo>
                  <a:cubicBezTo>
                    <a:pt x="9696" y="2126"/>
                    <a:pt x="14829" y="0"/>
                    <a:pt x="20182" y="0"/>
                  </a:cubicBezTo>
                  <a:close/>
                </a:path>
              </a:pathLst>
            </a:custGeom>
            <a:solidFill>
              <a:srgbClr val="3D3D3E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152676" cy="853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220200" y="4645660"/>
            <a:ext cx="8277860" cy="1269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6600" b="1">
                <a:solidFill>
                  <a:schemeClr val="bg1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Function Analysis</a:t>
            </a:r>
            <a:endParaRPr lang="en-US" altLang="zh-CN" sz="6600" b="1">
              <a:solidFill>
                <a:schemeClr val="bg1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93622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6834816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3665835" y="638810"/>
            <a:ext cx="1822450" cy="182245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3D3D3E"/>
          </a:solidFill>
          <a:ln cap="sq">
            <a:noFill/>
            <a:prstDash val="solid"/>
            <a:miter/>
          </a:ln>
        </p:spPr>
      </p:sp>
      <p:grpSp>
        <p:nvGrpSpPr>
          <p:cNvPr id="36" name="Group 21"/>
          <p:cNvGrpSpPr/>
          <p:nvPr/>
        </p:nvGrpSpPr>
        <p:grpSpPr>
          <a:xfrm rot="0">
            <a:off x="12197080" y="1374140"/>
            <a:ext cx="2423795" cy="2382520"/>
            <a:chOff x="0" y="0"/>
            <a:chExt cx="812800" cy="812800"/>
          </a:xfrm>
        </p:grpSpPr>
        <p:sp>
          <p:nvSpPr>
            <p:cNvPr id="37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573000" y="1866900"/>
            <a:ext cx="1642110" cy="16281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11985"/>
              </a:lnSpc>
              <a:spcBef>
                <a:spcPct val="0"/>
              </a:spcBef>
            </a:pPr>
            <a:r>
              <a:rPr lang="en-US" sz="9600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02</a:t>
            </a:r>
            <a:endParaRPr lang="en-US" sz="9600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143000" y="1409700"/>
            <a:ext cx="7118985" cy="6657340"/>
          </a:xfrm>
          <a:prstGeom prst="rect">
            <a:avLst/>
          </a:prstGeom>
          <a:solidFill>
            <a:srgbClr val="72FFF7"/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 descr="微信图片_20250921233953_990_7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925" y="1969770"/>
            <a:ext cx="6032500" cy="5537835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2138045" y="9371330"/>
            <a:ext cx="14120495" cy="581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altLang="zh-CN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AI Analysis of the value of the Try Makeup/ Shoe features in DEWU</a:t>
            </a:r>
            <a:endParaRPr lang="en-US" altLang="zh-CN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3735070" y="-4535805"/>
            <a:ext cx="10671810" cy="19514185"/>
          </a:xfrm>
          <a:custGeom>
            <a:avLst/>
            <a:gdLst/>
            <a:ahLst/>
            <a:cxnLst/>
            <a:rect l="l" t="t" r="r" b="b"/>
            <a:pathLst>
              <a:path w="11197962" h="19537731">
                <a:moveTo>
                  <a:pt x="0" y="0"/>
                </a:moveTo>
                <a:lnTo>
                  <a:pt x="11197962" y="0"/>
                </a:lnTo>
                <a:lnTo>
                  <a:pt x="11197962" y="19537731"/>
                </a:lnTo>
                <a:lnTo>
                  <a:pt x="0" y="195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1720" r="-11720"/>
            </a:stretch>
          </a:blipFill>
        </p:spPr>
      </p:sp>
      <p:grpSp>
        <p:nvGrpSpPr>
          <p:cNvPr id="17" name="Group 17"/>
          <p:cNvGrpSpPr/>
          <p:nvPr/>
        </p:nvGrpSpPr>
        <p:grpSpPr>
          <a:xfrm rot="0">
            <a:off x="-624923" y="9142169"/>
            <a:ext cx="19564067" cy="3097301"/>
            <a:chOff x="0" y="0"/>
            <a:chExt cx="5152676" cy="8157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152676" cy="815750"/>
            </a:xfrm>
            <a:custGeom>
              <a:avLst/>
              <a:gdLst/>
              <a:ahLst/>
              <a:cxnLst/>
              <a:rect l="l" t="t" r="r" b="b"/>
              <a:pathLst>
                <a:path w="5152676" h="815750">
                  <a:moveTo>
                    <a:pt x="20182" y="0"/>
                  </a:moveTo>
                  <a:lnTo>
                    <a:pt x="5132494" y="0"/>
                  </a:lnTo>
                  <a:cubicBezTo>
                    <a:pt x="5137847" y="0"/>
                    <a:pt x="5142980" y="2126"/>
                    <a:pt x="5146765" y="5911"/>
                  </a:cubicBezTo>
                  <a:cubicBezTo>
                    <a:pt x="5150550" y="9696"/>
                    <a:pt x="5152676" y="14829"/>
                    <a:pt x="5152676" y="20182"/>
                  </a:cubicBezTo>
                  <a:lnTo>
                    <a:pt x="5152676" y="795568"/>
                  </a:lnTo>
                  <a:cubicBezTo>
                    <a:pt x="5152676" y="800921"/>
                    <a:pt x="5150550" y="806054"/>
                    <a:pt x="5146765" y="809839"/>
                  </a:cubicBezTo>
                  <a:cubicBezTo>
                    <a:pt x="5142980" y="813624"/>
                    <a:pt x="5137847" y="815750"/>
                    <a:pt x="5132494" y="815750"/>
                  </a:cubicBezTo>
                  <a:lnTo>
                    <a:pt x="20182" y="815750"/>
                  </a:lnTo>
                  <a:cubicBezTo>
                    <a:pt x="14829" y="815750"/>
                    <a:pt x="9696" y="813624"/>
                    <a:pt x="5911" y="809839"/>
                  </a:cubicBezTo>
                  <a:cubicBezTo>
                    <a:pt x="2126" y="806054"/>
                    <a:pt x="0" y="800921"/>
                    <a:pt x="0" y="795568"/>
                  </a:cubicBezTo>
                  <a:lnTo>
                    <a:pt x="0" y="20182"/>
                  </a:lnTo>
                  <a:cubicBezTo>
                    <a:pt x="0" y="14829"/>
                    <a:pt x="2126" y="9696"/>
                    <a:pt x="5911" y="5911"/>
                  </a:cubicBezTo>
                  <a:cubicBezTo>
                    <a:pt x="9696" y="2126"/>
                    <a:pt x="14829" y="0"/>
                    <a:pt x="20182" y="0"/>
                  </a:cubicBezTo>
                  <a:close/>
                </a:path>
              </a:pathLst>
            </a:custGeom>
            <a:solidFill>
              <a:srgbClr val="3D3D3E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5152676" cy="853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93622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6834816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25" name="TextBox 25"/>
          <p:cNvSpPr txBox="1"/>
          <p:nvPr>
            <p:custDataLst>
              <p:tags r:id="rId2"/>
            </p:custDataLst>
          </p:nvPr>
        </p:nvSpPr>
        <p:spPr>
          <a:xfrm>
            <a:off x="1600200" y="2095500"/>
            <a:ext cx="10242550" cy="60426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>
                <a:solidFill>
                  <a:srgbClr val="FFFFFF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The mobile phone camera accurately captures the foot and scene, and realizes the virtual shoe on the foot.</a:t>
            </a:r>
            <a:endParaRPr lang="en-US" altLang="zh-CN" sz="3600" b="1">
              <a:solidFill>
                <a:srgbClr val="FFFFFF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>
                <a:solidFill>
                  <a:srgbClr val="FFFFFF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Supports 360-degree view to simulate real-wear effect and gait.</a:t>
            </a:r>
            <a:endParaRPr lang="en-US" altLang="zh-CN" sz="3600" b="1">
              <a:solidFill>
                <a:srgbClr val="FFFFFF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>
                <a:solidFill>
                  <a:srgbClr val="FFFFFF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Covering a huge number of trendy shoes, it meets the core needs of young users to "show off their outfits".</a:t>
            </a:r>
            <a:endParaRPr lang="en-US" altLang="zh-CN" sz="3600" b="1">
              <a:solidFill>
                <a:srgbClr val="FFFFFF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477635" y="800100"/>
            <a:ext cx="4853305" cy="725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55"/>
              </a:lnSpc>
              <a:spcBef>
                <a:spcPct val="0"/>
              </a:spcBef>
            </a:pPr>
            <a:r>
              <a:rPr lang="en-US" altLang="zh-CN" sz="6000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AI Shoe Fit</a:t>
            </a:r>
            <a:endParaRPr lang="en-US" altLang="zh-CN" sz="6000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138045" y="9371330"/>
            <a:ext cx="14120495" cy="581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 </a:t>
            </a:r>
            <a:r>
              <a:rPr lang="en-US" altLang="zh-CN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AI Analysis of the value of the Try Makeup/ Shoe features in DEWU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990600" y="2476500"/>
            <a:ext cx="304800" cy="304800"/>
          </a:xfrm>
          <a:prstGeom prst="ellipse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990600" y="4964430"/>
            <a:ext cx="304800" cy="304800"/>
          </a:xfrm>
          <a:prstGeom prst="ellipse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990600" y="6591300"/>
            <a:ext cx="304800" cy="304800"/>
          </a:xfrm>
          <a:prstGeom prst="ellipse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 descr="D:/HuaweiMoveData/Users/华为/Desktop/图片1.png图片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36" r="36"/>
          <a:stretch>
            <a:fillRect/>
          </a:stretch>
        </p:blipFill>
        <p:spPr>
          <a:xfrm>
            <a:off x="12268835" y="2247900"/>
            <a:ext cx="5262880" cy="5019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3735070" y="-4535805"/>
            <a:ext cx="10671810" cy="19514185"/>
          </a:xfrm>
          <a:custGeom>
            <a:avLst/>
            <a:gdLst/>
            <a:ahLst/>
            <a:cxnLst/>
            <a:rect l="l" t="t" r="r" b="b"/>
            <a:pathLst>
              <a:path w="11197962" h="19537731">
                <a:moveTo>
                  <a:pt x="0" y="0"/>
                </a:moveTo>
                <a:lnTo>
                  <a:pt x="11197962" y="0"/>
                </a:lnTo>
                <a:lnTo>
                  <a:pt x="11197962" y="19537731"/>
                </a:lnTo>
                <a:lnTo>
                  <a:pt x="0" y="195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1720" r="-11720"/>
            </a:stretch>
          </a:blipFill>
        </p:spPr>
      </p:sp>
      <p:grpSp>
        <p:nvGrpSpPr>
          <p:cNvPr id="17" name="Group 17"/>
          <p:cNvGrpSpPr/>
          <p:nvPr/>
        </p:nvGrpSpPr>
        <p:grpSpPr>
          <a:xfrm rot="0">
            <a:off x="-624923" y="9142169"/>
            <a:ext cx="19564067" cy="3097301"/>
            <a:chOff x="0" y="0"/>
            <a:chExt cx="5152676" cy="8157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152676" cy="815750"/>
            </a:xfrm>
            <a:custGeom>
              <a:avLst/>
              <a:gdLst/>
              <a:ahLst/>
              <a:cxnLst/>
              <a:rect l="l" t="t" r="r" b="b"/>
              <a:pathLst>
                <a:path w="5152676" h="815750">
                  <a:moveTo>
                    <a:pt x="20182" y="0"/>
                  </a:moveTo>
                  <a:lnTo>
                    <a:pt x="5132494" y="0"/>
                  </a:lnTo>
                  <a:cubicBezTo>
                    <a:pt x="5137847" y="0"/>
                    <a:pt x="5142980" y="2126"/>
                    <a:pt x="5146765" y="5911"/>
                  </a:cubicBezTo>
                  <a:cubicBezTo>
                    <a:pt x="5150550" y="9696"/>
                    <a:pt x="5152676" y="14829"/>
                    <a:pt x="5152676" y="20182"/>
                  </a:cubicBezTo>
                  <a:lnTo>
                    <a:pt x="5152676" y="795568"/>
                  </a:lnTo>
                  <a:cubicBezTo>
                    <a:pt x="5152676" y="800921"/>
                    <a:pt x="5150550" y="806054"/>
                    <a:pt x="5146765" y="809839"/>
                  </a:cubicBezTo>
                  <a:cubicBezTo>
                    <a:pt x="5142980" y="813624"/>
                    <a:pt x="5137847" y="815750"/>
                    <a:pt x="5132494" y="815750"/>
                  </a:cubicBezTo>
                  <a:lnTo>
                    <a:pt x="20182" y="815750"/>
                  </a:lnTo>
                  <a:cubicBezTo>
                    <a:pt x="14829" y="815750"/>
                    <a:pt x="9696" y="813624"/>
                    <a:pt x="5911" y="809839"/>
                  </a:cubicBezTo>
                  <a:cubicBezTo>
                    <a:pt x="2126" y="806054"/>
                    <a:pt x="0" y="800921"/>
                    <a:pt x="0" y="795568"/>
                  </a:cubicBezTo>
                  <a:lnTo>
                    <a:pt x="0" y="20182"/>
                  </a:lnTo>
                  <a:cubicBezTo>
                    <a:pt x="0" y="14829"/>
                    <a:pt x="2126" y="9696"/>
                    <a:pt x="5911" y="5911"/>
                  </a:cubicBezTo>
                  <a:cubicBezTo>
                    <a:pt x="9696" y="2126"/>
                    <a:pt x="14829" y="0"/>
                    <a:pt x="20182" y="0"/>
                  </a:cubicBezTo>
                  <a:close/>
                </a:path>
              </a:pathLst>
            </a:custGeom>
            <a:solidFill>
              <a:srgbClr val="3D3D3E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5152676" cy="853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93622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6834816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25" name="TextBox 25"/>
          <p:cNvSpPr txBox="1"/>
          <p:nvPr>
            <p:custDataLst>
              <p:tags r:id="rId2"/>
            </p:custDataLst>
          </p:nvPr>
        </p:nvSpPr>
        <p:spPr>
          <a:xfrm>
            <a:off x="7011035" y="1943100"/>
            <a:ext cx="10242550" cy="60426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>
                <a:solidFill>
                  <a:srgbClr val="FFFFFF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Intelligent face recognition to achieve high-precision makeup product color test.</a:t>
            </a:r>
            <a:endParaRPr lang="en-US" altLang="zh-CN" sz="3600" b="1">
              <a:solidFill>
                <a:srgbClr val="FFFFFF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>
                <a:solidFill>
                  <a:srgbClr val="FFFFFF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Includes all categories such as lipstick, eyeshadow, and foundation, and allows you to switch between different brands and colors with one click.</a:t>
            </a:r>
            <a:endParaRPr lang="en-US" altLang="zh-CN" sz="3600" b="1">
              <a:solidFill>
                <a:srgbClr val="FFFFFF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>
                <a:solidFill>
                  <a:srgbClr val="FFFFFF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Realistic effect, solve color difference and adaptation problems.</a:t>
            </a:r>
            <a:endParaRPr lang="en-US" altLang="zh-CN" sz="3600" b="1">
              <a:solidFill>
                <a:srgbClr val="FFFFFF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553835" y="800100"/>
            <a:ext cx="4853305" cy="725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55"/>
              </a:lnSpc>
              <a:spcBef>
                <a:spcPct val="0"/>
              </a:spcBef>
            </a:pPr>
            <a:r>
              <a:rPr lang="en-US" altLang="zh-CN" sz="6000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AI Makeup</a:t>
            </a:r>
            <a:endParaRPr lang="en-US" altLang="zh-CN" sz="6000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138045" y="9371330"/>
            <a:ext cx="14120495" cy="581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 </a:t>
            </a:r>
            <a:r>
              <a:rPr lang="en-US" altLang="zh-CN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AI Analysis of the value of the Try Makeup/ Shoe features in DEWU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325235" y="2324100"/>
            <a:ext cx="304800" cy="304800"/>
          </a:xfrm>
          <a:prstGeom prst="ellipse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6325235" y="3924300"/>
            <a:ext cx="304800" cy="304800"/>
          </a:xfrm>
          <a:prstGeom prst="ellipse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325235" y="7200900"/>
            <a:ext cx="304800" cy="304800"/>
          </a:xfrm>
          <a:prstGeom prst="ellipse">
            <a:avLst/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图片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35" y="2324100"/>
            <a:ext cx="5266690" cy="5022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16409">
            <a:off x="3545019" y="-4788363"/>
            <a:ext cx="11197962" cy="19537731"/>
          </a:xfrm>
          <a:custGeom>
            <a:avLst/>
            <a:gdLst/>
            <a:ahLst/>
            <a:cxnLst/>
            <a:rect l="l" t="t" r="r" b="b"/>
            <a:pathLst>
              <a:path w="11197962" h="19537731">
                <a:moveTo>
                  <a:pt x="0" y="0"/>
                </a:moveTo>
                <a:lnTo>
                  <a:pt x="11197962" y="0"/>
                </a:lnTo>
                <a:lnTo>
                  <a:pt x="11197962" y="19537731"/>
                </a:lnTo>
                <a:lnTo>
                  <a:pt x="0" y="195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1720" r="-1172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836923" y="7027589"/>
            <a:ext cx="4234372" cy="3541475"/>
          </a:xfrm>
          <a:custGeom>
            <a:avLst/>
            <a:gdLst/>
            <a:ahLst/>
            <a:cxnLst/>
            <a:rect l="l" t="t" r="r" b="b"/>
            <a:pathLst>
              <a:path w="4234372" h="3541475">
                <a:moveTo>
                  <a:pt x="0" y="0"/>
                </a:moveTo>
                <a:lnTo>
                  <a:pt x="4234372" y="0"/>
                </a:lnTo>
                <a:lnTo>
                  <a:pt x="4234372" y="3541475"/>
                </a:lnTo>
                <a:lnTo>
                  <a:pt x="0" y="354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 rot="0">
            <a:off x="-651593" y="9063429"/>
            <a:ext cx="19564067" cy="3097301"/>
            <a:chOff x="0" y="0"/>
            <a:chExt cx="5152676" cy="8157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52676" cy="815750"/>
            </a:xfrm>
            <a:custGeom>
              <a:avLst/>
              <a:gdLst/>
              <a:ahLst/>
              <a:cxnLst/>
              <a:rect l="l" t="t" r="r" b="b"/>
              <a:pathLst>
                <a:path w="5152676" h="815750">
                  <a:moveTo>
                    <a:pt x="20182" y="0"/>
                  </a:moveTo>
                  <a:lnTo>
                    <a:pt x="5132494" y="0"/>
                  </a:lnTo>
                  <a:cubicBezTo>
                    <a:pt x="5137847" y="0"/>
                    <a:pt x="5142980" y="2126"/>
                    <a:pt x="5146765" y="5911"/>
                  </a:cubicBezTo>
                  <a:cubicBezTo>
                    <a:pt x="5150550" y="9696"/>
                    <a:pt x="5152676" y="14829"/>
                    <a:pt x="5152676" y="20182"/>
                  </a:cubicBezTo>
                  <a:lnTo>
                    <a:pt x="5152676" y="795568"/>
                  </a:lnTo>
                  <a:cubicBezTo>
                    <a:pt x="5152676" y="800921"/>
                    <a:pt x="5150550" y="806054"/>
                    <a:pt x="5146765" y="809839"/>
                  </a:cubicBezTo>
                  <a:cubicBezTo>
                    <a:pt x="5142980" y="813624"/>
                    <a:pt x="5137847" y="815750"/>
                    <a:pt x="5132494" y="815750"/>
                  </a:cubicBezTo>
                  <a:lnTo>
                    <a:pt x="20182" y="815750"/>
                  </a:lnTo>
                  <a:cubicBezTo>
                    <a:pt x="14829" y="815750"/>
                    <a:pt x="9696" y="813624"/>
                    <a:pt x="5911" y="809839"/>
                  </a:cubicBezTo>
                  <a:cubicBezTo>
                    <a:pt x="2126" y="806054"/>
                    <a:pt x="0" y="800921"/>
                    <a:pt x="0" y="795568"/>
                  </a:cubicBezTo>
                  <a:lnTo>
                    <a:pt x="0" y="20182"/>
                  </a:lnTo>
                  <a:cubicBezTo>
                    <a:pt x="0" y="14829"/>
                    <a:pt x="2126" y="9696"/>
                    <a:pt x="5911" y="5911"/>
                  </a:cubicBezTo>
                  <a:cubicBezTo>
                    <a:pt x="9696" y="2126"/>
                    <a:pt x="14829" y="0"/>
                    <a:pt x="20182" y="0"/>
                  </a:cubicBezTo>
                  <a:close/>
                </a:path>
              </a:pathLst>
            </a:custGeom>
            <a:solidFill>
              <a:srgbClr val="3D3D3E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152676" cy="853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220200" y="4626610"/>
            <a:ext cx="8277860" cy="1269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6600" b="1">
                <a:solidFill>
                  <a:schemeClr val="bg1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Data Insights</a:t>
            </a:r>
            <a:endParaRPr lang="en-US" altLang="zh-CN" sz="6600" b="1">
              <a:solidFill>
                <a:schemeClr val="bg1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93622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6834816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3665835" y="638810"/>
            <a:ext cx="1822450" cy="182245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3D3D3E"/>
          </a:solidFill>
          <a:ln cap="sq">
            <a:noFill/>
            <a:prstDash val="solid"/>
            <a:miter/>
          </a:ln>
        </p:spPr>
      </p:sp>
      <p:grpSp>
        <p:nvGrpSpPr>
          <p:cNvPr id="36" name="Group 21"/>
          <p:cNvGrpSpPr/>
          <p:nvPr/>
        </p:nvGrpSpPr>
        <p:grpSpPr>
          <a:xfrm rot="0">
            <a:off x="12197080" y="1374140"/>
            <a:ext cx="2423795" cy="2382520"/>
            <a:chOff x="0" y="0"/>
            <a:chExt cx="812800" cy="812800"/>
          </a:xfrm>
        </p:grpSpPr>
        <p:sp>
          <p:nvSpPr>
            <p:cNvPr id="37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573000" y="1866900"/>
            <a:ext cx="1642110" cy="16281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11985"/>
              </a:lnSpc>
              <a:spcBef>
                <a:spcPct val="0"/>
              </a:spcBef>
            </a:pPr>
            <a:r>
              <a:rPr lang="en-US" sz="9600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03</a:t>
            </a:r>
            <a:endParaRPr lang="en-US" sz="9600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143000" y="1409700"/>
            <a:ext cx="7118985" cy="6657340"/>
          </a:xfrm>
          <a:prstGeom prst="rect">
            <a:avLst/>
          </a:prstGeom>
          <a:solidFill>
            <a:srgbClr val="72FFF7"/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 descr="微信图片_20250921233953_990_7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925" y="1969770"/>
            <a:ext cx="6032500" cy="5537835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2138045" y="9371330"/>
            <a:ext cx="14120495" cy="581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altLang="zh-CN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AI Analysis of the value of the Try Makeup/ Shoe features in DEWU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16409">
            <a:off x="3434529" y="-4788363"/>
            <a:ext cx="11197962" cy="19537731"/>
          </a:xfrm>
          <a:custGeom>
            <a:avLst/>
            <a:gdLst/>
            <a:ahLst/>
            <a:cxnLst/>
            <a:rect l="l" t="t" r="r" b="b"/>
            <a:pathLst>
              <a:path w="11197962" h="19537731">
                <a:moveTo>
                  <a:pt x="0" y="0"/>
                </a:moveTo>
                <a:lnTo>
                  <a:pt x="11197962" y="0"/>
                </a:lnTo>
                <a:lnTo>
                  <a:pt x="11197962" y="19537731"/>
                </a:lnTo>
                <a:lnTo>
                  <a:pt x="0" y="195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1720" r="-11720"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-651593" y="9022154"/>
            <a:ext cx="19564067" cy="3097301"/>
            <a:chOff x="0" y="0"/>
            <a:chExt cx="5152676" cy="8157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52676" cy="815750"/>
            </a:xfrm>
            <a:custGeom>
              <a:avLst/>
              <a:gdLst/>
              <a:ahLst/>
              <a:cxnLst/>
              <a:rect l="l" t="t" r="r" b="b"/>
              <a:pathLst>
                <a:path w="5152676" h="815750">
                  <a:moveTo>
                    <a:pt x="20182" y="0"/>
                  </a:moveTo>
                  <a:lnTo>
                    <a:pt x="5132494" y="0"/>
                  </a:lnTo>
                  <a:cubicBezTo>
                    <a:pt x="5137847" y="0"/>
                    <a:pt x="5142980" y="2126"/>
                    <a:pt x="5146765" y="5911"/>
                  </a:cubicBezTo>
                  <a:cubicBezTo>
                    <a:pt x="5150550" y="9696"/>
                    <a:pt x="5152676" y="14829"/>
                    <a:pt x="5152676" y="20182"/>
                  </a:cubicBezTo>
                  <a:lnTo>
                    <a:pt x="5152676" y="795568"/>
                  </a:lnTo>
                  <a:cubicBezTo>
                    <a:pt x="5152676" y="800921"/>
                    <a:pt x="5150550" y="806054"/>
                    <a:pt x="5146765" y="809839"/>
                  </a:cubicBezTo>
                  <a:cubicBezTo>
                    <a:pt x="5142980" y="813624"/>
                    <a:pt x="5137847" y="815750"/>
                    <a:pt x="5132494" y="815750"/>
                  </a:cubicBezTo>
                  <a:lnTo>
                    <a:pt x="20182" y="815750"/>
                  </a:lnTo>
                  <a:cubicBezTo>
                    <a:pt x="14829" y="815750"/>
                    <a:pt x="9696" y="813624"/>
                    <a:pt x="5911" y="809839"/>
                  </a:cubicBezTo>
                  <a:cubicBezTo>
                    <a:pt x="2126" y="806054"/>
                    <a:pt x="0" y="800921"/>
                    <a:pt x="0" y="795568"/>
                  </a:cubicBezTo>
                  <a:lnTo>
                    <a:pt x="0" y="20182"/>
                  </a:lnTo>
                  <a:cubicBezTo>
                    <a:pt x="0" y="14829"/>
                    <a:pt x="2126" y="9696"/>
                    <a:pt x="5911" y="5911"/>
                  </a:cubicBezTo>
                  <a:cubicBezTo>
                    <a:pt x="9696" y="2126"/>
                    <a:pt x="14829" y="0"/>
                    <a:pt x="20182" y="0"/>
                  </a:cubicBezTo>
                  <a:close/>
                </a:path>
              </a:pathLst>
            </a:custGeom>
            <a:solidFill>
              <a:srgbClr val="3D3D3E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152676" cy="853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93622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6834816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" name="TextBox 32"/>
          <p:cNvSpPr txBox="1"/>
          <p:nvPr/>
        </p:nvSpPr>
        <p:spPr>
          <a:xfrm>
            <a:off x="2138045" y="9371330"/>
            <a:ext cx="14120495" cy="581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altLang="zh-CN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AI Analysis of the value of the Try Makeup/ Shoe features in DEWU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pic>
        <p:nvPicPr>
          <p:cNvPr id="4" name="图片 3" descr="微信图片_20251030153026_1957_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495300"/>
            <a:ext cx="14434820" cy="6087745"/>
          </a:xfrm>
          <a:prstGeom prst="rect">
            <a:avLst/>
          </a:prstGeom>
        </p:spPr>
      </p:pic>
      <p:sp>
        <p:nvSpPr>
          <p:cNvPr id="5" name="TextBox 35"/>
          <p:cNvSpPr txBox="1"/>
          <p:nvPr/>
        </p:nvSpPr>
        <p:spPr>
          <a:xfrm>
            <a:off x="1905000" y="7124700"/>
            <a:ext cx="14067790" cy="1450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55"/>
              </a:lnSpc>
              <a:spcBef>
                <a:spcPct val="0"/>
              </a:spcBef>
            </a:pPr>
            <a:r>
              <a:rPr lang="en-US" altLang="zh-CN" sz="4800" b="1">
                <a:solidFill>
                  <a:schemeClr val="bg1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Significantly improve conversion rates</a:t>
            </a:r>
            <a:endParaRPr lang="zh-CN" altLang="en-US" sz="4800" b="1">
              <a:solidFill>
                <a:schemeClr val="bg1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  <a:p>
            <a:pPr algn="ctr">
              <a:lnSpc>
                <a:spcPts val="5655"/>
              </a:lnSpc>
              <a:spcBef>
                <a:spcPct val="0"/>
              </a:spcBef>
            </a:pPr>
            <a:r>
              <a:rPr lang="en-US" altLang="zh-CN" sz="4800" b="1">
                <a:solidFill>
                  <a:schemeClr val="bg1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Effectively increase the average order value</a:t>
            </a:r>
            <a:endParaRPr lang="en-US" altLang="zh-CN" sz="4800" b="1">
              <a:solidFill>
                <a:schemeClr val="bg1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16409">
            <a:off x="3434529" y="-4788363"/>
            <a:ext cx="11197962" cy="19537731"/>
          </a:xfrm>
          <a:custGeom>
            <a:avLst/>
            <a:gdLst/>
            <a:ahLst/>
            <a:cxnLst/>
            <a:rect l="l" t="t" r="r" b="b"/>
            <a:pathLst>
              <a:path w="11197962" h="19537731">
                <a:moveTo>
                  <a:pt x="0" y="0"/>
                </a:moveTo>
                <a:lnTo>
                  <a:pt x="11197962" y="0"/>
                </a:lnTo>
                <a:lnTo>
                  <a:pt x="11197962" y="19537731"/>
                </a:lnTo>
                <a:lnTo>
                  <a:pt x="0" y="195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1720" r="-11720"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-651593" y="9022154"/>
            <a:ext cx="19564067" cy="3097301"/>
            <a:chOff x="0" y="0"/>
            <a:chExt cx="5152676" cy="8157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52676" cy="815750"/>
            </a:xfrm>
            <a:custGeom>
              <a:avLst/>
              <a:gdLst/>
              <a:ahLst/>
              <a:cxnLst/>
              <a:rect l="l" t="t" r="r" b="b"/>
              <a:pathLst>
                <a:path w="5152676" h="815750">
                  <a:moveTo>
                    <a:pt x="20182" y="0"/>
                  </a:moveTo>
                  <a:lnTo>
                    <a:pt x="5132494" y="0"/>
                  </a:lnTo>
                  <a:cubicBezTo>
                    <a:pt x="5137847" y="0"/>
                    <a:pt x="5142980" y="2126"/>
                    <a:pt x="5146765" y="5911"/>
                  </a:cubicBezTo>
                  <a:cubicBezTo>
                    <a:pt x="5150550" y="9696"/>
                    <a:pt x="5152676" y="14829"/>
                    <a:pt x="5152676" y="20182"/>
                  </a:cubicBezTo>
                  <a:lnTo>
                    <a:pt x="5152676" y="795568"/>
                  </a:lnTo>
                  <a:cubicBezTo>
                    <a:pt x="5152676" y="800921"/>
                    <a:pt x="5150550" y="806054"/>
                    <a:pt x="5146765" y="809839"/>
                  </a:cubicBezTo>
                  <a:cubicBezTo>
                    <a:pt x="5142980" y="813624"/>
                    <a:pt x="5137847" y="815750"/>
                    <a:pt x="5132494" y="815750"/>
                  </a:cubicBezTo>
                  <a:lnTo>
                    <a:pt x="20182" y="815750"/>
                  </a:lnTo>
                  <a:cubicBezTo>
                    <a:pt x="14829" y="815750"/>
                    <a:pt x="9696" y="813624"/>
                    <a:pt x="5911" y="809839"/>
                  </a:cubicBezTo>
                  <a:cubicBezTo>
                    <a:pt x="2126" y="806054"/>
                    <a:pt x="0" y="800921"/>
                    <a:pt x="0" y="795568"/>
                  </a:cubicBezTo>
                  <a:lnTo>
                    <a:pt x="0" y="20182"/>
                  </a:lnTo>
                  <a:cubicBezTo>
                    <a:pt x="0" y="14829"/>
                    <a:pt x="2126" y="9696"/>
                    <a:pt x="5911" y="5911"/>
                  </a:cubicBezTo>
                  <a:cubicBezTo>
                    <a:pt x="9696" y="2126"/>
                    <a:pt x="14829" y="0"/>
                    <a:pt x="20182" y="0"/>
                  </a:cubicBezTo>
                  <a:close/>
                </a:path>
              </a:pathLst>
            </a:custGeom>
            <a:solidFill>
              <a:srgbClr val="3D3D3E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152676" cy="853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93622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6834816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" name="TextBox 32"/>
          <p:cNvSpPr txBox="1"/>
          <p:nvPr/>
        </p:nvSpPr>
        <p:spPr>
          <a:xfrm>
            <a:off x="2138045" y="9371330"/>
            <a:ext cx="14120495" cy="581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altLang="zh-CN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AI Analysis of the value of the Try Makeup/ Shoe features in DEWU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pic>
        <p:nvPicPr>
          <p:cNvPr id="4" name="图片 3" descr="D:/HuaweiMoveData/Users/华为/Desktop/微信图片_20251030153815_1958_79.jpg微信图片_20251030153815_1958_79"/>
          <p:cNvPicPr>
            <a:picLocks noChangeAspect="1"/>
          </p:cNvPicPr>
          <p:nvPr/>
        </p:nvPicPr>
        <p:blipFill>
          <a:blip r:embed="rId2"/>
          <a:srcRect t="13" b="13"/>
          <a:stretch>
            <a:fillRect/>
          </a:stretch>
        </p:blipFill>
        <p:spPr>
          <a:xfrm>
            <a:off x="1752600" y="571500"/>
            <a:ext cx="14434820" cy="6087745"/>
          </a:xfrm>
          <a:prstGeom prst="rect">
            <a:avLst/>
          </a:prstGeom>
        </p:spPr>
      </p:pic>
      <p:sp>
        <p:nvSpPr>
          <p:cNvPr id="5" name="TextBox 35"/>
          <p:cNvSpPr txBox="1"/>
          <p:nvPr/>
        </p:nvSpPr>
        <p:spPr>
          <a:xfrm>
            <a:off x="2057400" y="7581900"/>
            <a:ext cx="14067790" cy="725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55"/>
              </a:lnSpc>
              <a:spcBef>
                <a:spcPct val="0"/>
              </a:spcBef>
            </a:pPr>
            <a:r>
              <a:rPr lang="en-US" altLang="zh-CN" sz="4800" b="1">
                <a:solidFill>
                  <a:schemeClr val="bg1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The return rate has decreased significantly</a:t>
            </a:r>
            <a:endParaRPr lang="en-US" altLang="zh-CN" sz="4800" b="1">
              <a:solidFill>
                <a:schemeClr val="bg1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16409">
            <a:off x="3545019" y="-4788363"/>
            <a:ext cx="11197962" cy="19537731"/>
          </a:xfrm>
          <a:custGeom>
            <a:avLst/>
            <a:gdLst/>
            <a:ahLst/>
            <a:cxnLst/>
            <a:rect l="l" t="t" r="r" b="b"/>
            <a:pathLst>
              <a:path w="11197962" h="19537731">
                <a:moveTo>
                  <a:pt x="0" y="0"/>
                </a:moveTo>
                <a:lnTo>
                  <a:pt x="11197962" y="0"/>
                </a:lnTo>
                <a:lnTo>
                  <a:pt x="11197962" y="19537731"/>
                </a:lnTo>
                <a:lnTo>
                  <a:pt x="0" y="195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1720" r="-1172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836923" y="7027589"/>
            <a:ext cx="4234372" cy="3541475"/>
          </a:xfrm>
          <a:custGeom>
            <a:avLst/>
            <a:gdLst/>
            <a:ahLst/>
            <a:cxnLst/>
            <a:rect l="l" t="t" r="r" b="b"/>
            <a:pathLst>
              <a:path w="4234372" h="3541475">
                <a:moveTo>
                  <a:pt x="0" y="0"/>
                </a:moveTo>
                <a:lnTo>
                  <a:pt x="4234372" y="0"/>
                </a:lnTo>
                <a:lnTo>
                  <a:pt x="4234372" y="3541475"/>
                </a:lnTo>
                <a:lnTo>
                  <a:pt x="0" y="354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 rot="0">
            <a:off x="-651593" y="9063429"/>
            <a:ext cx="19564067" cy="3097301"/>
            <a:chOff x="0" y="0"/>
            <a:chExt cx="5152676" cy="8157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52676" cy="815750"/>
            </a:xfrm>
            <a:custGeom>
              <a:avLst/>
              <a:gdLst/>
              <a:ahLst/>
              <a:cxnLst/>
              <a:rect l="l" t="t" r="r" b="b"/>
              <a:pathLst>
                <a:path w="5152676" h="815750">
                  <a:moveTo>
                    <a:pt x="20182" y="0"/>
                  </a:moveTo>
                  <a:lnTo>
                    <a:pt x="5132494" y="0"/>
                  </a:lnTo>
                  <a:cubicBezTo>
                    <a:pt x="5137847" y="0"/>
                    <a:pt x="5142980" y="2126"/>
                    <a:pt x="5146765" y="5911"/>
                  </a:cubicBezTo>
                  <a:cubicBezTo>
                    <a:pt x="5150550" y="9696"/>
                    <a:pt x="5152676" y="14829"/>
                    <a:pt x="5152676" y="20182"/>
                  </a:cubicBezTo>
                  <a:lnTo>
                    <a:pt x="5152676" y="795568"/>
                  </a:lnTo>
                  <a:cubicBezTo>
                    <a:pt x="5152676" y="800921"/>
                    <a:pt x="5150550" y="806054"/>
                    <a:pt x="5146765" y="809839"/>
                  </a:cubicBezTo>
                  <a:cubicBezTo>
                    <a:pt x="5142980" y="813624"/>
                    <a:pt x="5137847" y="815750"/>
                    <a:pt x="5132494" y="815750"/>
                  </a:cubicBezTo>
                  <a:lnTo>
                    <a:pt x="20182" y="815750"/>
                  </a:lnTo>
                  <a:cubicBezTo>
                    <a:pt x="14829" y="815750"/>
                    <a:pt x="9696" y="813624"/>
                    <a:pt x="5911" y="809839"/>
                  </a:cubicBezTo>
                  <a:cubicBezTo>
                    <a:pt x="2126" y="806054"/>
                    <a:pt x="0" y="800921"/>
                    <a:pt x="0" y="795568"/>
                  </a:cubicBezTo>
                  <a:lnTo>
                    <a:pt x="0" y="20182"/>
                  </a:lnTo>
                  <a:cubicBezTo>
                    <a:pt x="0" y="14829"/>
                    <a:pt x="2126" y="9696"/>
                    <a:pt x="5911" y="5911"/>
                  </a:cubicBezTo>
                  <a:cubicBezTo>
                    <a:pt x="9696" y="2126"/>
                    <a:pt x="14829" y="0"/>
                    <a:pt x="20182" y="0"/>
                  </a:cubicBezTo>
                  <a:close/>
                </a:path>
              </a:pathLst>
            </a:custGeom>
            <a:solidFill>
              <a:srgbClr val="3D3D3E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152676" cy="853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220200" y="4076700"/>
            <a:ext cx="8277860" cy="2538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6600" b="1">
                <a:solidFill>
                  <a:schemeClr val="bg1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User Behavior And Long-term Value</a:t>
            </a:r>
            <a:endParaRPr lang="en-US" altLang="zh-CN" sz="6600" b="1">
              <a:solidFill>
                <a:schemeClr val="bg1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93622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6834816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3665835" y="638810"/>
            <a:ext cx="1822450" cy="182245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3D3D3E"/>
          </a:solidFill>
          <a:ln cap="sq">
            <a:noFill/>
            <a:prstDash val="solid"/>
            <a:miter/>
          </a:ln>
        </p:spPr>
      </p:sp>
      <p:grpSp>
        <p:nvGrpSpPr>
          <p:cNvPr id="36" name="Group 21"/>
          <p:cNvGrpSpPr/>
          <p:nvPr/>
        </p:nvGrpSpPr>
        <p:grpSpPr>
          <a:xfrm rot="0">
            <a:off x="12197080" y="1374140"/>
            <a:ext cx="2423795" cy="2382520"/>
            <a:chOff x="0" y="0"/>
            <a:chExt cx="812800" cy="812800"/>
          </a:xfrm>
        </p:grpSpPr>
        <p:sp>
          <p:nvSpPr>
            <p:cNvPr id="37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573000" y="1866900"/>
            <a:ext cx="1642110" cy="16281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11985"/>
              </a:lnSpc>
              <a:spcBef>
                <a:spcPct val="0"/>
              </a:spcBef>
            </a:pPr>
            <a:r>
              <a:rPr lang="en-US" sz="9600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04</a:t>
            </a:r>
            <a:endParaRPr lang="en-US" sz="9600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143000" y="1409700"/>
            <a:ext cx="7118985" cy="6657340"/>
          </a:xfrm>
          <a:prstGeom prst="rect">
            <a:avLst/>
          </a:prstGeom>
          <a:solidFill>
            <a:srgbClr val="72FFF7"/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 descr="微信图片_20250921233953_990_7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925" y="1969770"/>
            <a:ext cx="6032500" cy="5537835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2138045" y="9371330"/>
            <a:ext cx="14120495" cy="581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altLang="zh-CN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AI Analysis of the value of the Try Makeup/ Shoe features in DEWU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16409">
            <a:off x="3434529" y="-4788363"/>
            <a:ext cx="11197962" cy="19537731"/>
          </a:xfrm>
          <a:custGeom>
            <a:avLst/>
            <a:gdLst/>
            <a:ahLst/>
            <a:cxnLst/>
            <a:rect l="l" t="t" r="r" b="b"/>
            <a:pathLst>
              <a:path w="11197962" h="19537731">
                <a:moveTo>
                  <a:pt x="0" y="0"/>
                </a:moveTo>
                <a:lnTo>
                  <a:pt x="11197962" y="0"/>
                </a:lnTo>
                <a:lnTo>
                  <a:pt x="11197962" y="19537731"/>
                </a:lnTo>
                <a:lnTo>
                  <a:pt x="0" y="195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1720" r="-11720"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-651593" y="9022154"/>
            <a:ext cx="19564067" cy="3097301"/>
            <a:chOff x="0" y="0"/>
            <a:chExt cx="5152676" cy="8157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52676" cy="815750"/>
            </a:xfrm>
            <a:custGeom>
              <a:avLst/>
              <a:gdLst/>
              <a:ahLst/>
              <a:cxnLst/>
              <a:rect l="l" t="t" r="r" b="b"/>
              <a:pathLst>
                <a:path w="5152676" h="815750">
                  <a:moveTo>
                    <a:pt x="20182" y="0"/>
                  </a:moveTo>
                  <a:lnTo>
                    <a:pt x="5132494" y="0"/>
                  </a:lnTo>
                  <a:cubicBezTo>
                    <a:pt x="5137847" y="0"/>
                    <a:pt x="5142980" y="2126"/>
                    <a:pt x="5146765" y="5911"/>
                  </a:cubicBezTo>
                  <a:cubicBezTo>
                    <a:pt x="5150550" y="9696"/>
                    <a:pt x="5152676" y="14829"/>
                    <a:pt x="5152676" y="20182"/>
                  </a:cubicBezTo>
                  <a:lnTo>
                    <a:pt x="5152676" y="795568"/>
                  </a:lnTo>
                  <a:cubicBezTo>
                    <a:pt x="5152676" y="800921"/>
                    <a:pt x="5150550" y="806054"/>
                    <a:pt x="5146765" y="809839"/>
                  </a:cubicBezTo>
                  <a:cubicBezTo>
                    <a:pt x="5142980" y="813624"/>
                    <a:pt x="5137847" y="815750"/>
                    <a:pt x="5132494" y="815750"/>
                  </a:cubicBezTo>
                  <a:lnTo>
                    <a:pt x="20182" y="815750"/>
                  </a:lnTo>
                  <a:cubicBezTo>
                    <a:pt x="14829" y="815750"/>
                    <a:pt x="9696" y="813624"/>
                    <a:pt x="5911" y="809839"/>
                  </a:cubicBezTo>
                  <a:cubicBezTo>
                    <a:pt x="2126" y="806054"/>
                    <a:pt x="0" y="800921"/>
                    <a:pt x="0" y="795568"/>
                  </a:cubicBezTo>
                  <a:lnTo>
                    <a:pt x="0" y="20182"/>
                  </a:lnTo>
                  <a:cubicBezTo>
                    <a:pt x="0" y="14829"/>
                    <a:pt x="2126" y="9696"/>
                    <a:pt x="5911" y="5911"/>
                  </a:cubicBezTo>
                  <a:cubicBezTo>
                    <a:pt x="9696" y="2126"/>
                    <a:pt x="14829" y="0"/>
                    <a:pt x="20182" y="0"/>
                  </a:cubicBezTo>
                  <a:close/>
                </a:path>
              </a:pathLst>
            </a:custGeom>
            <a:solidFill>
              <a:srgbClr val="3D3D3E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152676" cy="853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93622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6834816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406525" y="876300"/>
            <a:ext cx="15187295" cy="725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55"/>
              </a:lnSpc>
              <a:spcBef>
                <a:spcPct val="0"/>
              </a:spcBef>
            </a:pPr>
            <a:r>
              <a:rPr lang="en-US" altLang="zh-CN" sz="5400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Build User Engagement And Brand Barriers</a:t>
            </a:r>
            <a:endParaRPr lang="en-US" altLang="zh-CN" sz="5400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6" name="TextBox 36"/>
          <p:cNvSpPr txBox="1"/>
          <p:nvPr>
            <p:custDataLst>
              <p:tags r:id="rId2"/>
            </p:custDataLst>
          </p:nvPr>
        </p:nvSpPr>
        <p:spPr>
          <a:xfrm>
            <a:off x="960145" y="2722516"/>
            <a:ext cx="1138464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80"/>
              </a:lnSpc>
              <a:spcBef>
                <a:spcPct val="0"/>
              </a:spcBef>
            </a:pPr>
            <a:r>
              <a:rPr lang="en-US" sz="53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01</a:t>
            </a:r>
            <a:endParaRPr lang="en-US" sz="53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7" name="TextBox 37"/>
          <p:cNvSpPr txBox="1"/>
          <p:nvPr>
            <p:custDataLst>
              <p:tags r:id="rId3"/>
            </p:custDataLst>
          </p:nvPr>
        </p:nvSpPr>
        <p:spPr>
          <a:xfrm>
            <a:off x="2362200" y="2705100"/>
            <a:ext cx="9927590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125"/>
              </a:spcBef>
              <a:spcAft>
                <a:spcPts val="0"/>
              </a:spcAft>
            </a:pPr>
            <a:r>
              <a:rPr lang="en-US" altLang="zh-CN" sz="4800" b="1">
                <a:solidFill>
                  <a:srgbClr val="FFFFFF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Extend user dwell time</a:t>
            </a:r>
            <a:endParaRPr lang="en-US" altLang="zh-CN" sz="4800" b="1">
              <a:solidFill>
                <a:srgbClr val="FFFFFF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40" name="TextBox 40"/>
          <p:cNvSpPr txBox="1"/>
          <p:nvPr>
            <p:custDataLst>
              <p:tags r:id="rId4"/>
            </p:custDataLst>
          </p:nvPr>
        </p:nvSpPr>
        <p:spPr>
          <a:xfrm>
            <a:off x="960145" y="4577213"/>
            <a:ext cx="1138464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80"/>
              </a:lnSpc>
              <a:spcBef>
                <a:spcPct val="0"/>
              </a:spcBef>
            </a:pPr>
            <a:r>
              <a:rPr lang="en-US" sz="53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02</a:t>
            </a:r>
            <a:endParaRPr lang="en-US" sz="53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41" name="TextBox 41"/>
          <p:cNvSpPr txBox="1"/>
          <p:nvPr>
            <p:custDataLst>
              <p:tags r:id="rId5"/>
            </p:custDataLst>
          </p:nvPr>
        </p:nvSpPr>
        <p:spPr>
          <a:xfrm>
            <a:off x="2286000" y="4533900"/>
            <a:ext cx="10142855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800" b="1">
                <a:solidFill>
                  <a:srgbClr val="FFFFFF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Boosting social engagement</a:t>
            </a:r>
            <a:endParaRPr lang="en-US" altLang="zh-CN" sz="4800" b="1">
              <a:solidFill>
                <a:srgbClr val="FFFFFF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42" name="TextBox 42"/>
          <p:cNvSpPr txBox="1"/>
          <p:nvPr>
            <p:custDataLst>
              <p:tags r:id="rId6"/>
            </p:custDataLst>
          </p:nvPr>
        </p:nvSpPr>
        <p:spPr>
          <a:xfrm>
            <a:off x="960145" y="6555352"/>
            <a:ext cx="1138464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80"/>
              </a:lnSpc>
              <a:spcBef>
                <a:spcPct val="0"/>
              </a:spcBef>
            </a:pPr>
            <a:r>
              <a:rPr lang="en-US" sz="53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03</a:t>
            </a:r>
            <a:endParaRPr lang="en-US" sz="53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43" name="TextBox 43"/>
          <p:cNvSpPr txBox="1"/>
          <p:nvPr>
            <p:custDataLst>
              <p:tags r:id="rId7"/>
            </p:custDataLst>
          </p:nvPr>
        </p:nvSpPr>
        <p:spPr>
          <a:xfrm>
            <a:off x="2330450" y="6530340"/>
            <a:ext cx="10074910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800" b="1">
                <a:solidFill>
                  <a:srgbClr val="FFFFFF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Building a technological moat</a:t>
            </a:r>
            <a:endParaRPr lang="en-US" altLang="zh-CN" sz="4800" b="1">
              <a:solidFill>
                <a:srgbClr val="FFFFFF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pic>
        <p:nvPicPr>
          <p:cNvPr id="46" name="图片 45" descr="微信图片_20250922105137_288_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58600" y="2247900"/>
            <a:ext cx="6466840" cy="5455285"/>
          </a:xfrm>
          <a:prstGeom prst="rect">
            <a:avLst/>
          </a:prstGeom>
        </p:spPr>
      </p:pic>
      <p:sp>
        <p:nvSpPr>
          <p:cNvPr id="3" name="TextBox 32"/>
          <p:cNvSpPr txBox="1"/>
          <p:nvPr/>
        </p:nvSpPr>
        <p:spPr>
          <a:xfrm>
            <a:off x="2138045" y="9371330"/>
            <a:ext cx="14120495" cy="581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altLang="zh-CN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AI Analysis of the value of the Try Makeup/ Shoe features in DEWU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16409">
            <a:off x="3545019" y="-4788363"/>
            <a:ext cx="11197962" cy="19537731"/>
          </a:xfrm>
          <a:custGeom>
            <a:avLst/>
            <a:gdLst/>
            <a:ahLst/>
            <a:cxnLst/>
            <a:rect l="l" t="t" r="r" b="b"/>
            <a:pathLst>
              <a:path w="11197962" h="19537731">
                <a:moveTo>
                  <a:pt x="0" y="0"/>
                </a:moveTo>
                <a:lnTo>
                  <a:pt x="11197962" y="0"/>
                </a:lnTo>
                <a:lnTo>
                  <a:pt x="11197962" y="19537731"/>
                </a:lnTo>
                <a:lnTo>
                  <a:pt x="0" y="195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1720" r="-1172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836923" y="7027589"/>
            <a:ext cx="4234372" cy="3541475"/>
          </a:xfrm>
          <a:custGeom>
            <a:avLst/>
            <a:gdLst/>
            <a:ahLst/>
            <a:cxnLst/>
            <a:rect l="l" t="t" r="r" b="b"/>
            <a:pathLst>
              <a:path w="4234372" h="3541475">
                <a:moveTo>
                  <a:pt x="0" y="0"/>
                </a:moveTo>
                <a:lnTo>
                  <a:pt x="4234372" y="0"/>
                </a:lnTo>
                <a:lnTo>
                  <a:pt x="4234372" y="3541475"/>
                </a:lnTo>
                <a:lnTo>
                  <a:pt x="0" y="354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 rot="0">
            <a:off x="-651593" y="9063429"/>
            <a:ext cx="19564067" cy="3097301"/>
            <a:chOff x="0" y="0"/>
            <a:chExt cx="5152676" cy="8157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52676" cy="815750"/>
            </a:xfrm>
            <a:custGeom>
              <a:avLst/>
              <a:gdLst/>
              <a:ahLst/>
              <a:cxnLst/>
              <a:rect l="l" t="t" r="r" b="b"/>
              <a:pathLst>
                <a:path w="5152676" h="815750">
                  <a:moveTo>
                    <a:pt x="20182" y="0"/>
                  </a:moveTo>
                  <a:lnTo>
                    <a:pt x="5132494" y="0"/>
                  </a:lnTo>
                  <a:cubicBezTo>
                    <a:pt x="5137847" y="0"/>
                    <a:pt x="5142980" y="2126"/>
                    <a:pt x="5146765" y="5911"/>
                  </a:cubicBezTo>
                  <a:cubicBezTo>
                    <a:pt x="5150550" y="9696"/>
                    <a:pt x="5152676" y="14829"/>
                    <a:pt x="5152676" y="20182"/>
                  </a:cubicBezTo>
                  <a:lnTo>
                    <a:pt x="5152676" y="795568"/>
                  </a:lnTo>
                  <a:cubicBezTo>
                    <a:pt x="5152676" y="800921"/>
                    <a:pt x="5150550" y="806054"/>
                    <a:pt x="5146765" y="809839"/>
                  </a:cubicBezTo>
                  <a:cubicBezTo>
                    <a:pt x="5142980" y="813624"/>
                    <a:pt x="5137847" y="815750"/>
                    <a:pt x="5132494" y="815750"/>
                  </a:cubicBezTo>
                  <a:lnTo>
                    <a:pt x="20182" y="815750"/>
                  </a:lnTo>
                  <a:cubicBezTo>
                    <a:pt x="14829" y="815750"/>
                    <a:pt x="9696" y="813624"/>
                    <a:pt x="5911" y="809839"/>
                  </a:cubicBezTo>
                  <a:cubicBezTo>
                    <a:pt x="2126" y="806054"/>
                    <a:pt x="0" y="800921"/>
                    <a:pt x="0" y="795568"/>
                  </a:cubicBezTo>
                  <a:lnTo>
                    <a:pt x="0" y="20182"/>
                  </a:lnTo>
                  <a:cubicBezTo>
                    <a:pt x="0" y="14829"/>
                    <a:pt x="2126" y="9696"/>
                    <a:pt x="5911" y="5911"/>
                  </a:cubicBezTo>
                  <a:cubicBezTo>
                    <a:pt x="9696" y="2126"/>
                    <a:pt x="14829" y="0"/>
                    <a:pt x="20182" y="0"/>
                  </a:cubicBezTo>
                  <a:close/>
                </a:path>
              </a:pathLst>
            </a:custGeom>
            <a:solidFill>
              <a:srgbClr val="3D3D3E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152676" cy="853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220200" y="4626610"/>
            <a:ext cx="8277860" cy="1269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6600" b="1">
                <a:solidFill>
                  <a:schemeClr val="bg1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Conclusion</a:t>
            </a:r>
            <a:endParaRPr lang="en-US" altLang="zh-CN" sz="6600" b="1">
              <a:solidFill>
                <a:schemeClr val="bg1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93622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6834816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3665835" y="638810"/>
            <a:ext cx="1822450" cy="182245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3D3D3E"/>
          </a:solidFill>
          <a:ln cap="sq">
            <a:noFill/>
            <a:prstDash val="solid"/>
            <a:miter/>
          </a:ln>
        </p:spPr>
      </p:sp>
      <p:grpSp>
        <p:nvGrpSpPr>
          <p:cNvPr id="36" name="Group 21"/>
          <p:cNvGrpSpPr/>
          <p:nvPr/>
        </p:nvGrpSpPr>
        <p:grpSpPr>
          <a:xfrm rot="0">
            <a:off x="12197080" y="1374140"/>
            <a:ext cx="2423795" cy="2382520"/>
            <a:chOff x="0" y="0"/>
            <a:chExt cx="812800" cy="812800"/>
          </a:xfrm>
        </p:grpSpPr>
        <p:sp>
          <p:nvSpPr>
            <p:cNvPr id="37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573000" y="1866900"/>
            <a:ext cx="1642110" cy="16281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11985"/>
              </a:lnSpc>
              <a:spcBef>
                <a:spcPct val="0"/>
              </a:spcBef>
            </a:pPr>
            <a:r>
              <a:rPr lang="en-US" sz="9600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05</a:t>
            </a:r>
            <a:endParaRPr lang="en-US" sz="9600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143000" y="1409700"/>
            <a:ext cx="7118985" cy="6657340"/>
          </a:xfrm>
          <a:prstGeom prst="rect">
            <a:avLst/>
          </a:prstGeom>
          <a:solidFill>
            <a:srgbClr val="72FFF7"/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 descr="微信图片_20250921233953_990_7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925" y="1969770"/>
            <a:ext cx="6032500" cy="5537835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2138045" y="9371330"/>
            <a:ext cx="14120495" cy="581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altLang="zh-CN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AI Analysis of the value of the Try Makeup/ Shoe features in DEWU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16409">
            <a:off x="3434529" y="-4788363"/>
            <a:ext cx="11197962" cy="19537731"/>
          </a:xfrm>
          <a:custGeom>
            <a:avLst/>
            <a:gdLst/>
            <a:ahLst/>
            <a:cxnLst/>
            <a:rect l="l" t="t" r="r" b="b"/>
            <a:pathLst>
              <a:path w="11197962" h="19537731">
                <a:moveTo>
                  <a:pt x="0" y="0"/>
                </a:moveTo>
                <a:lnTo>
                  <a:pt x="11197962" y="0"/>
                </a:lnTo>
                <a:lnTo>
                  <a:pt x="11197962" y="19537731"/>
                </a:lnTo>
                <a:lnTo>
                  <a:pt x="0" y="195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1720" r="-11720"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-651593" y="9022154"/>
            <a:ext cx="19564067" cy="3097301"/>
            <a:chOff x="0" y="0"/>
            <a:chExt cx="5152676" cy="8157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52676" cy="815750"/>
            </a:xfrm>
            <a:custGeom>
              <a:avLst/>
              <a:gdLst/>
              <a:ahLst/>
              <a:cxnLst/>
              <a:rect l="l" t="t" r="r" b="b"/>
              <a:pathLst>
                <a:path w="5152676" h="815750">
                  <a:moveTo>
                    <a:pt x="20182" y="0"/>
                  </a:moveTo>
                  <a:lnTo>
                    <a:pt x="5132494" y="0"/>
                  </a:lnTo>
                  <a:cubicBezTo>
                    <a:pt x="5137847" y="0"/>
                    <a:pt x="5142980" y="2126"/>
                    <a:pt x="5146765" y="5911"/>
                  </a:cubicBezTo>
                  <a:cubicBezTo>
                    <a:pt x="5150550" y="9696"/>
                    <a:pt x="5152676" y="14829"/>
                    <a:pt x="5152676" y="20182"/>
                  </a:cubicBezTo>
                  <a:lnTo>
                    <a:pt x="5152676" y="795568"/>
                  </a:lnTo>
                  <a:cubicBezTo>
                    <a:pt x="5152676" y="800921"/>
                    <a:pt x="5150550" y="806054"/>
                    <a:pt x="5146765" y="809839"/>
                  </a:cubicBezTo>
                  <a:cubicBezTo>
                    <a:pt x="5142980" y="813624"/>
                    <a:pt x="5137847" y="815750"/>
                    <a:pt x="5132494" y="815750"/>
                  </a:cubicBezTo>
                  <a:lnTo>
                    <a:pt x="20182" y="815750"/>
                  </a:lnTo>
                  <a:cubicBezTo>
                    <a:pt x="14829" y="815750"/>
                    <a:pt x="9696" y="813624"/>
                    <a:pt x="5911" y="809839"/>
                  </a:cubicBezTo>
                  <a:cubicBezTo>
                    <a:pt x="2126" y="806054"/>
                    <a:pt x="0" y="800921"/>
                    <a:pt x="0" y="795568"/>
                  </a:cubicBezTo>
                  <a:lnTo>
                    <a:pt x="0" y="20182"/>
                  </a:lnTo>
                  <a:cubicBezTo>
                    <a:pt x="0" y="14829"/>
                    <a:pt x="2126" y="9696"/>
                    <a:pt x="5911" y="5911"/>
                  </a:cubicBezTo>
                  <a:cubicBezTo>
                    <a:pt x="9696" y="2126"/>
                    <a:pt x="14829" y="0"/>
                    <a:pt x="20182" y="0"/>
                  </a:cubicBezTo>
                  <a:close/>
                </a:path>
              </a:pathLst>
            </a:custGeom>
            <a:solidFill>
              <a:srgbClr val="3D3D3E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152676" cy="853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93622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6834816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9677400" y="876300"/>
            <a:ext cx="4251325" cy="725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55"/>
              </a:lnSpc>
              <a:spcBef>
                <a:spcPct val="0"/>
              </a:spcBef>
            </a:pPr>
            <a:r>
              <a:rPr lang="en-US" altLang="zh-CN" sz="6000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Conclusion</a:t>
            </a:r>
            <a:endParaRPr lang="en-US" altLang="zh-CN" sz="6000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6" name="TextBox 36"/>
          <p:cNvSpPr txBox="1"/>
          <p:nvPr>
            <p:custDataLst>
              <p:tags r:id="rId2"/>
            </p:custDataLst>
          </p:nvPr>
        </p:nvSpPr>
        <p:spPr>
          <a:xfrm>
            <a:off x="6294145" y="2439941"/>
            <a:ext cx="1138464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80"/>
              </a:lnSpc>
              <a:spcBef>
                <a:spcPct val="0"/>
              </a:spcBef>
            </a:pPr>
            <a:r>
              <a:rPr lang="en-US" sz="53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01</a:t>
            </a:r>
            <a:endParaRPr lang="en-US" sz="53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7" name="TextBox 37"/>
          <p:cNvSpPr txBox="1"/>
          <p:nvPr>
            <p:custDataLst>
              <p:tags r:id="rId3"/>
            </p:custDataLst>
          </p:nvPr>
        </p:nvSpPr>
        <p:spPr>
          <a:xfrm>
            <a:off x="7696200" y="2346325"/>
            <a:ext cx="9927590" cy="1230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125"/>
              </a:spcBef>
              <a:spcAft>
                <a:spcPts val="0"/>
              </a:spcAft>
            </a:pPr>
            <a:r>
              <a:rPr lang="en-US" altLang="zh-CN" sz="3200" b="1">
                <a:solidFill>
                  <a:srgbClr val="FFFFFF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AI makeup and shoe fitting features are the core drivers of business growth.</a:t>
            </a:r>
            <a:endParaRPr lang="en-US" altLang="zh-CN" sz="3200" b="1">
              <a:solidFill>
                <a:srgbClr val="FFFFFF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40" name="TextBox 40"/>
          <p:cNvSpPr txBox="1"/>
          <p:nvPr>
            <p:custDataLst>
              <p:tags r:id="rId4"/>
            </p:custDataLst>
          </p:nvPr>
        </p:nvSpPr>
        <p:spPr>
          <a:xfrm>
            <a:off x="6217945" y="4599438"/>
            <a:ext cx="1138464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80"/>
              </a:lnSpc>
              <a:spcBef>
                <a:spcPct val="0"/>
              </a:spcBef>
            </a:pPr>
            <a:r>
              <a:rPr lang="en-US" sz="53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02</a:t>
            </a:r>
            <a:endParaRPr lang="en-US" sz="53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41" name="TextBox 41"/>
          <p:cNvSpPr txBox="1"/>
          <p:nvPr>
            <p:custDataLst>
              <p:tags r:id="rId5"/>
            </p:custDataLst>
          </p:nvPr>
        </p:nvSpPr>
        <p:spPr>
          <a:xfrm>
            <a:off x="7620000" y="4251325"/>
            <a:ext cx="10142855" cy="1846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>
                <a:solidFill>
                  <a:srgbClr val="FFFFFF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By improving conversion, increasing customer order and reducing returns, it directly optimizes the core financial indicators of e-commerce</a:t>
            </a:r>
            <a:endParaRPr lang="en-US" altLang="zh-CN" sz="3200" b="1">
              <a:solidFill>
                <a:srgbClr val="FFFFFF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sp>
        <p:nvSpPr>
          <p:cNvPr id="42" name="TextBox 42"/>
          <p:cNvSpPr txBox="1"/>
          <p:nvPr>
            <p:custDataLst>
              <p:tags r:id="rId6"/>
            </p:custDataLst>
          </p:nvPr>
        </p:nvSpPr>
        <p:spPr>
          <a:xfrm>
            <a:off x="6294145" y="6958577"/>
            <a:ext cx="1138464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80"/>
              </a:lnSpc>
              <a:spcBef>
                <a:spcPct val="0"/>
              </a:spcBef>
            </a:pPr>
            <a:r>
              <a:rPr lang="en-US" sz="53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03</a:t>
            </a:r>
            <a:endParaRPr lang="en-US" sz="53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43" name="TextBox 43"/>
          <p:cNvSpPr txBox="1"/>
          <p:nvPr>
            <p:custDataLst>
              <p:tags r:id="rId7"/>
            </p:custDataLst>
          </p:nvPr>
        </p:nvSpPr>
        <p:spPr>
          <a:xfrm>
            <a:off x="7664450" y="6857365"/>
            <a:ext cx="10074910" cy="1230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>
                <a:solidFill>
                  <a:srgbClr val="FFFFFF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rPr>
              <a:t>It is a key differentiating competitive means to build brand, enhance stickiness and lead the industry.</a:t>
            </a:r>
            <a:endParaRPr lang="en-US" altLang="zh-CN" sz="3200" b="1">
              <a:solidFill>
                <a:srgbClr val="FFFFFF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阿里巴巴普惠体" panose="00020600040101010101" charset="-122"/>
            </a:endParaRPr>
          </a:p>
        </p:txBody>
      </p:sp>
      <p:pic>
        <p:nvPicPr>
          <p:cNvPr id="46" name="图片 45" descr="微信图片_20250922105137_288_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025" y="2324100"/>
            <a:ext cx="5646420" cy="5537835"/>
          </a:xfrm>
          <a:prstGeom prst="rect">
            <a:avLst/>
          </a:prstGeom>
        </p:spPr>
      </p:pic>
      <p:sp>
        <p:nvSpPr>
          <p:cNvPr id="3" name="TextBox 32"/>
          <p:cNvSpPr txBox="1"/>
          <p:nvPr/>
        </p:nvSpPr>
        <p:spPr>
          <a:xfrm>
            <a:off x="2138045" y="9371330"/>
            <a:ext cx="14120495" cy="581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 </a:t>
            </a:r>
            <a:r>
              <a:rPr lang="en-US" altLang="zh-CN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AI Analysis of the value of the Try Makeup/ Shoe features in DEWU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16409">
            <a:off x="3586929" y="-4788363"/>
            <a:ext cx="11197962" cy="19537731"/>
          </a:xfrm>
          <a:custGeom>
            <a:avLst/>
            <a:gdLst/>
            <a:ahLst/>
            <a:cxnLst/>
            <a:rect l="l" t="t" r="r" b="b"/>
            <a:pathLst>
              <a:path w="11197962" h="19537731">
                <a:moveTo>
                  <a:pt x="0" y="0"/>
                </a:moveTo>
                <a:lnTo>
                  <a:pt x="11197962" y="0"/>
                </a:lnTo>
                <a:lnTo>
                  <a:pt x="11197962" y="19537731"/>
                </a:lnTo>
                <a:lnTo>
                  <a:pt x="0" y="195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1720" r="-11720"/>
            </a:stretch>
          </a:blipFill>
        </p:spPr>
      </p:sp>
      <p:grpSp>
        <p:nvGrpSpPr>
          <p:cNvPr id="21" name="Group 21"/>
          <p:cNvGrpSpPr/>
          <p:nvPr/>
        </p:nvGrpSpPr>
        <p:grpSpPr>
          <a:xfrm rot="0">
            <a:off x="-624923" y="9022154"/>
            <a:ext cx="19564067" cy="3097301"/>
            <a:chOff x="0" y="0"/>
            <a:chExt cx="5152676" cy="8157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152676" cy="815750"/>
            </a:xfrm>
            <a:custGeom>
              <a:avLst/>
              <a:gdLst/>
              <a:ahLst/>
              <a:cxnLst/>
              <a:rect l="l" t="t" r="r" b="b"/>
              <a:pathLst>
                <a:path w="5152676" h="815750">
                  <a:moveTo>
                    <a:pt x="20182" y="0"/>
                  </a:moveTo>
                  <a:lnTo>
                    <a:pt x="5132494" y="0"/>
                  </a:lnTo>
                  <a:cubicBezTo>
                    <a:pt x="5137847" y="0"/>
                    <a:pt x="5142980" y="2126"/>
                    <a:pt x="5146765" y="5911"/>
                  </a:cubicBezTo>
                  <a:cubicBezTo>
                    <a:pt x="5150550" y="9696"/>
                    <a:pt x="5152676" y="14829"/>
                    <a:pt x="5152676" y="20182"/>
                  </a:cubicBezTo>
                  <a:lnTo>
                    <a:pt x="5152676" y="795568"/>
                  </a:lnTo>
                  <a:cubicBezTo>
                    <a:pt x="5152676" y="800921"/>
                    <a:pt x="5150550" y="806054"/>
                    <a:pt x="5146765" y="809839"/>
                  </a:cubicBezTo>
                  <a:cubicBezTo>
                    <a:pt x="5142980" y="813624"/>
                    <a:pt x="5137847" y="815750"/>
                    <a:pt x="5132494" y="815750"/>
                  </a:cubicBezTo>
                  <a:lnTo>
                    <a:pt x="20182" y="815750"/>
                  </a:lnTo>
                  <a:cubicBezTo>
                    <a:pt x="14829" y="815750"/>
                    <a:pt x="9696" y="813624"/>
                    <a:pt x="5911" y="809839"/>
                  </a:cubicBezTo>
                  <a:cubicBezTo>
                    <a:pt x="2126" y="806054"/>
                    <a:pt x="0" y="800921"/>
                    <a:pt x="0" y="795568"/>
                  </a:cubicBezTo>
                  <a:lnTo>
                    <a:pt x="0" y="20182"/>
                  </a:lnTo>
                  <a:cubicBezTo>
                    <a:pt x="0" y="14829"/>
                    <a:pt x="2126" y="9696"/>
                    <a:pt x="5911" y="5911"/>
                  </a:cubicBezTo>
                  <a:cubicBezTo>
                    <a:pt x="9696" y="2126"/>
                    <a:pt x="14829" y="0"/>
                    <a:pt x="20182" y="0"/>
                  </a:cubicBezTo>
                  <a:close/>
                </a:path>
              </a:pathLst>
            </a:custGeom>
            <a:solidFill>
              <a:srgbClr val="3D3D3E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5152676" cy="853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</a:p>
          </p:txBody>
        </p:sp>
      </p:grpSp>
      <p:grpSp>
        <p:nvGrpSpPr>
          <p:cNvPr id="24" name="Group 24"/>
          <p:cNvGrpSpPr/>
          <p:nvPr/>
        </p:nvGrpSpPr>
        <p:grpSpPr>
          <a:xfrm rot="0">
            <a:off x="762000" y="7581900"/>
            <a:ext cx="9192895" cy="812165"/>
            <a:chOff x="0" y="0"/>
            <a:chExt cx="1444673" cy="1628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44673" cy="162890"/>
            </a:xfrm>
            <a:custGeom>
              <a:avLst/>
              <a:gdLst/>
              <a:ahLst/>
              <a:cxnLst/>
              <a:rect l="l" t="t" r="r" b="b"/>
              <a:pathLst>
                <a:path w="1444673" h="162890">
                  <a:moveTo>
                    <a:pt x="71982" y="0"/>
                  </a:moveTo>
                  <a:lnTo>
                    <a:pt x="1372691" y="0"/>
                  </a:lnTo>
                  <a:cubicBezTo>
                    <a:pt x="1412445" y="0"/>
                    <a:pt x="1444673" y="32227"/>
                    <a:pt x="1444673" y="71982"/>
                  </a:cubicBezTo>
                  <a:lnTo>
                    <a:pt x="1444673" y="90908"/>
                  </a:lnTo>
                  <a:cubicBezTo>
                    <a:pt x="1444673" y="109999"/>
                    <a:pt x="1437089" y="128308"/>
                    <a:pt x="1423590" y="141807"/>
                  </a:cubicBezTo>
                  <a:cubicBezTo>
                    <a:pt x="1410091" y="155306"/>
                    <a:pt x="1391782" y="162890"/>
                    <a:pt x="1372691" y="162890"/>
                  </a:cubicBezTo>
                  <a:lnTo>
                    <a:pt x="71982" y="162890"/>
                  </a:lnTo>
                  <a:cubicBezTo>
                    <a:pt x="32227" y="162890"/>
                    <a:pt x="0" y="130662"/>
                    <a:pt x="0" y="90908"/>
                  </a:cubicBezTo>
                  <a:lnTo>
                    <a:pt x="0" y="71982"/>
                  </a:lnTo>
                  <a:cubicBezTo>
                    <a:pt x="0" y="32227"/>
                    <a:pt x="32227" y="0"/>
                    <a:pt x="71982" y="0"/>
                  </a:cubicBezTo>
                  <a:close/>
                </a:path>
              </a:pathLst>
            </a:custGeom>
            <a:solidFill>
              <a:srgbClr val="72FFF7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444673" cy="200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5"/>
                </a:lnSpc>
              </a:p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92455" y="2988310"/>
            <a:ext cx="9937750" cy="4154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CN" sz="6000" b="1">
                <a:solidFill>
                  <a:srgbClr val="FFFFFF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AI Analysis of the value of the Try Makeup/ Shoe features in DEWU</a:t>
            </a:r>
            <a:endParaRPr lang="en-US" altLang="zh-CN" sz="6000" b="1">
              <a:solidFill>
                <a:srgbClr val="FFFFFF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38195" y="1553770"/>
            <a:ext cx="4258383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20"/>
              </a:lnSpc>
              <a:spcBef>
                <a:spcPct val="0"/>
              </a:spcBef>
            </a:pPr>
            <a:r>
              <a:rPr lang="en-US" sz="9600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DEWU</a:t>
            </a:r>
            <a:endParaRPr lang="en-US" sz="9600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138045" y="9371330"/>
            <a:ext cx="14120495" cy="581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 </a:t>
            </a:r>
            <a:r>
              <a:rPr lang="en-US" altLang="zh-CN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AI Analysis</a:t>
            </a:r>
            <a:r>
              <a:rPr lang="en-US" altLang="zh-CN" sz="3245" b="1">
                <a:solidFill>
                  <a:srgbClr val="FFFFFF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 </a:t>
            </a:r>
            <a:r>
              <a:rPr lang="en-US" altLang="zh-CN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of the value of the Try Makeup/ Shoe features in DEWU</a:t>
            </a:r>
            <a:endParaRPr lang="en-US" altLang="zh-CN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93622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6834816" y="9371046"/>
            <a:ext cx="1798409" cy="54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  <a:spcBef>
                <a:spcPct val="0"/>
              </a:spcBef>
            </a:pPr>
            <a:r>
              <a:rPr lang="en-US" sz="3245" b="1">
                <a:solidFill>
                  <a:srgbClr val="72FFF7"/>
                </a:solidFill>
                <a:latin typeface="阿里巴巴普惠体 Heavy" panose="00020600040101010101" charset="-122"/>
                <a:ea typeface="阿里巴巴普惠体 Heavy" panose="00020600040101010101" charset="-122"/>
                <a:cs typeface="阿里巴巴普惠体 Heavy" panose="00020600040101010101" charset="-122"/>
                <a:sym typeface="阿里巴巴普惠体 Heavy" panose="00020600040101010101" charset="-122"/>
              </a:rPr>
              <a:t>////</a:t>
            </a:r>
            <a:endParaRPr lang="en-US" sz="3245" b="1">
              <a:solidFill>
                <a:srgbClr val="72FFF7"/>
              </a:solidFill>
              <a:latin typeface="阿里巴巴普惠体 Heavy" panose="00020600040101010101" charset="-122"/>
              <a:ea typeface="阿里巴巴普惠体 Heavy" panose="00020600040101010101" charset="-122"/>
              <a:cs typeface="阿里巴巴普惠体 Heavy" panose="00020600040101010101" charset="-122"/>
              <a:sym typeface="阿里巴巴普惠体 Heavy" panose="00020600040101010101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143000" y="7788275"/>
            <a:ext cx="4563110" cy="381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75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Reporter：Cecilia</a:t>
            </a:r>
            <a:r>
              <a:rPr lang="zh-CN" altLang="en-US" sz="2800" b="1">
                <a:solidFill>
                  <a:srgbClr val="000000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、</a:t>
            </a:r>
            <a:r>
              <a:rPr lang="en-US" altLang="zh-CN" sz="2800" b="1">
                <a:solidFill>
                  <a:srgbClr val="000000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Judy</a:t>
            </a:r>
            <a:endParaRPr lang="en-US" altLang="zh-CN" sz="2800" b="1">
              <a:solidFill>
                <a:srgbClr val="000000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5943551" y="7788442"/>
            <a:ext cx="339489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  <a:sym typeface="阿里巴巴普惠体 Medium" panose="00020600040101010101" charset="-122"/>
              </a:rPr>
              <a:t>Time：2025/11/04</a:t>
            </a:r>
            <a:endParaRPr lang="zh-CN" altLang="en-US" sz="2800" b="1">
              <a:solidFill>
                <a:srgbClr val="000000"/>
              </a:solidFill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  <a:sym typeface="阿里巴巴普惠体 Medium" panose="00020600040101010101" charset="-122"/>
            </a:endParaRPr>
          </a:p>
        </p:txBody>
      </p:sp>
      <p:pic>
        <p:nvPicPr>
          <p:cNvPr id="37" name="图片 36" descr="微信图片_20250921233954_991_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1584960"/>
            <a:ext cx="6404610" cy="631634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3.07543307086613,&quot;left&quot;:139.7732283464567,&quot;top&quot;:321.04913385826774,&quot;width&quot;:539.0973228346456}"/>
</p:tagLst>
</file>

<file path=ppt/tags/tag2.xml><?xml version="1.0" encoding="utf-8"?>
<p:tagLst xmlns:p="http://schemas.openxmlformats.org/presentationml/2006/main">
  <p:tag name="KSO_WM_DIAGRAM_VIRTUALLY_FRAME" val="{&quot;height&quot;:585.15,&quot;left&quot;:30,&quot;top&quot;:6.65,&quot;width&quot;:1353.3}"/>
</p:tagLst>
</file>

<file path=ppt/tags/tag3.xml><?xml version="1.0" encoding="utf-8"?>
<p:tagLst xmlns:p="http://schemas.openxmlformats.org/presentationml/2006/main">
  <p:tag name="KSO_WM_DIAGRAM_VIRTUALLY_FRAME" val="{&quot;height&quot;:203.07543307086613,&quot;left&quot;:139.7732283464567,&quot;top&quot;:321.04913385826774,&quot;width&quot;:539.0973228346456}"/>
</p:tagLst>
</file>

<file path=ppt/tags/tag4.xml><?xml version="1.0" encoding="utf-8"?>
<p:tagLst xmlns:p="http://schemas.openxmlformats.org/presentationml/2006/main">
  <p:tag name="KSO_WM_DIAGRAM_VIRTUALLY_FRAME" val="{&quot;height&quot;:645.2286614173229,&quot;left&quot;:75.60196850393694,&quot;top&quot;:164.12133858267717,&quot;width&quot;:912.6980314960631}"/>
</p:tagLst>
</file>

<file path=ppt/tags/tag5.xml><?xml version="1.0" encoding="utf-8"?>
<p:tagLst xmlns:p="http://schemas.openxmlformats.org/presentationml/2006/main">
  <p:tag name="KSO_WM_DIAGRAM_VIRTUALLY_FRAME" val="{&quot;height&quot;:645.2286614173229,&quot;left&quot;:75.60196850393694,&quot;top&quot;:164.12133858267717,&quot;width&quot;:912.6980314960631}"/>
</p:tagLst>
</file>

<file path=ppt/tags/tag6.xml><?xml version="1.0" encoding="utf-8"?>
<p:tagLst xmlns:p="http://schemas.openxmlformats.org/presentationml/2006/main">
  <p:tag name="KSO_WM_DIAGRAM_VIRTUALLY_FRAME" val="{&quot;height&quot;:645.2286614173229,&quot;left&quot;:75.60196850393694,&quot;top&quot;:164.12133858267717,&quot;width&quot;:912.6980314960631}"/>
</p:tagLst>
</file>

<file path=ppt/tags/tag7.xml><?xml version="1.0" encoding="utf-8"?>
<p:tagLst xmlns:p="http://schemas.openxmlformats.org/presentationml/2006/main">
  <p:tag name="KSO_WM_DIAGRAM_VIRTUALLY_FRAME" val="{&quot;height&quot;:645.2286614173229,&quot;left&quot;:75.60196850393694,&quot;top&quot;:164.12133858267717,&quot;width&quot;:912.6980314960631}"/>
</p:tagLst>
</file>

<file path=ppt/tags/tag8.xml><?xml version="1.0" encoding="utf-8"?>
<p:tagLst xmlns:p="http://schemas.openxmlformats.org/presentationml/2006/main">
  <p:tag name="KSO_WM_DIAGRAM_VIRTUALLY_FRAME" val="{&quot;height&quot;:645.2286614173229,&quot;left&quot;:75.60196850393694,&quot;top&quot;:164.12133858267717,&quot;width&quot;:912.6980314960631}"/>
</p:tagLst>
</file>

<file path=ppt/tags/tag9.xml><?xml version="1.0" encoding="utf-8"?>
<p:tagLst xmlns:p="http://schemas.openxmlformats.org/presentationml/2006/main">
  <p:tag name="KSO_WM_DIAGRAM_VIRTUALLY_FRAME" val="{&quot;height&quot;:645.2286614173229,&quot;left&quot;:75.60196850393694,&quot;top&quot;:164.12133858267717,&quot;width&quot;:912.6980314960631}"/>
</p:tagLst>
</file>

<file path=ppt/tags/tag10.xml><?xml version="1.0" encoding="utf-8"?>
<p:tagLst xmlns:p="http://schemas.openxmlformats.org/presentationml/2006/main">
  <p:tag name="KSO_WM_DIAGRAM_VIRTUALLY_FRAME" val="{&quot;height&quot;:713.5786614173228,&quot;left&quot;:489.601968503937,&quot;top&quot;:147.87133858267717,&quot;width&quot;:918.6980314960631}"/>
</p:tagLst>
</file>

<file path=ppt/tags/tag11.xml><?xml version="1.0" encoding="utf-8"?>
<p:tagLst xmlns:p="http://schemas.openxmlformats.org/presentationml/2006/main">
  <p:tag name="KSO_WM_DIAGRAM_VIRTUALLY_FRAME" val="{&quot;height&quot;:713.5786614173228,&quot;left&quot;:489.601968503937,&quot;top&quot;:147.87133858267717,&quot;width&quot;:918.6980314960631}"/>
</p:tagLst>
</file>

<file path=ppt/tags/tag12.xml><?xml version="1.0" encoding="utf-8"?>
<p:tagLst xmlns:p="http://schemas.openxmlformats.org/presentationml/2006/main">
  <p:tag name="KSO_WM_DIAGRAM_VIRTUALLY_FRAME" val="{&quot;height&quot;:713.5786614173228,&quot;left&quot;:489.601968503937,&quot;top&quot;:147.87133858267717,&quot;width&quot;:918.6980314960631}"/>
</p:tagLst>
</file>

<file path=ppt/tags/tag13.xml><?xml version="1.0" encoding="utf-8"?>
<p:tagLst xmlns:p="http://schemas.openxmlformats.org/presentationml/2006/main">
  <p:tag name="KSO_WM_DIAGRAM_VIRTUALLY_FRAME" val="{&quot;height&quot;:713.5786614173228,&quot;left&quot;:489.601968503937,&quot;top&quot;:147.87133858267717,&quot;width&quot;:918.6980314960631}"/>
</p:tagLst>
</file>

<file path=ppt/tags/tag14.xml><?xml version="1.0" encoding="utf-8"?>
<p:tagLst xmlns:p="http://schemas.openxmlformats.org/presentationml/2006/main">
  <p:tag name="KSO_WM_DIAGRAM_VIRTUALLY_FRAME" val="{&quot;height&quot;:713.5786614173228,&quot;left&quot;:489.601968503937,&quot;top&quot;:147.87133858267717,&quot;width&quot;:918.6980314960631}"/>
</p:tagLst>
</file>

<file path=ppt/tags/tag15.xml><?xml version="1.0" encoding="utf-8"?>
<p:tagLst xmlns:p="http://schemas.openxmlformats.org/presentationml/2006/main">
  <p:tag name="KSO_WM_DIAGRAM_VIRTUALLY_FRAME" val="{&quot;height&quot;:713.5786614173228,&quot;left&quot;:489.601968503937,&quot;top&quot;:147.87133858267717,&quot;width&quot;:918.698031496063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2822</Words>
  <Application>WPS 演示</Application>
  <PresentationFormat>On-screen Show (4:3)</PresentationFormat>
  <Paragraphs>175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阿里巴巴普惠体 Heavy</vt:lpstr>
      <vt:lpstr>阿里巴巴普惠体 Medium</vt:lpstr>
      <vt:lpstr>阿里巴巴普惠体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Judy</cp:lastModifiedBy>
  <cp:revision>23</cp:revision>
  <dcterms:created xsi:type="dcterms:W3CDTF">2006-08-16T00:00:00Z</dcterms:created>
  <dcterms:modified xsi:type="dcterms:W3CDTF">2025-10-30T09:26:33Z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{"Label":"1","ContentProducer":"001191110105MA01AN806X00000","ProduceID":"DAGzk9FALGY","ReservedCode1":"","ContentPropagator":"001191110105MA01AN806X00000","PropagateID":"DAGzk9FALGY","ReservedCode2":""}</vt:lpwstr>
  </property>
  <property fmtid="{D5CDD505-2E9C-101B-9397-08002B2CF9AE}" pid="3" name="ICV">
    <vt:lpwstr>D08E5C8CAC4E4227A95A9B625EC18B24_12</vt:lpwstr>
  </property>
  <property fmtid="{D5CDD505-2E9C-101B-9397-08002B2CF9AE}" pid="4" name="KSOProductBuildVer">
    <vt:lpwstr>2052-12.1.0.23125</vt:lpwstr>
  </property>
</Properties>
</file>